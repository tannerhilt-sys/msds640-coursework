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257" r:id="rId3"/>
    <p:sldId id="270" r:id="rId4"/>
    <p:sldId id="258" r:id="rId5"/>
    <p:sldId id="259" r:id="rId6"/>
    <p:sldId id="260" r:id="rId7"/>
    <p:sldId id="269" r:id="rId8"/>
    <p:sldId id="261" r:id="rId9"/>
    <p:sldId id="262" r:id="rId10"/>
    <p:sldId id="263" r:id="rId11"/>
    <p:sldId id="265" r:id="rId12"/>
    <p:sldId id="266" r:id="rId13"/>
    <p:sldId id="271" r:id="rId14"/>
    <p:sldId id="267" r:id="rId15"/>
    <p:sldId id="272" r:id="rId16"/>
    <p:sldId id="273" r:id="rId17"/>
    <p:sldId id="274" r:id="rId18"/>
    <p:sldId id="275" r:id="rId19"/>
    <p:sldId id="276" r:id="rId20"/>
    <p:sldId id="277" r:id="rId21"/>
    <p:sldId id="278" r:id="rId22"/>
    <p:sldId id="279" r:id="rId23"/>
    <p:sldId id="280" r:id="rId24"/>
    <p:sldId id="281" r:id="rId25"/>
    <p:sldId id="282" r:id="rId26"/>
    <p:sldId id="284" r:id="rId27"/>
    <p:sldId id="283" r:id="rId28"/>
    <p:sldId id="288" r:id="rId29"/>
    <p:sldId id="285" r:id="rId30"/>
    <p:sldId id="286" r:id="rId31"/>
    <p:sldId id="292" r:id="rId32"/>
    <p:sldId id="287" r:id="rId33"/>
    <p:sldId id="289" r:id="rId34"/>
    <p:sldId id="291" r:id="rId35"/>
    <p:sldId id="290" r:id="rId36"/>
    <p:sldId id="293"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683270-8712-405C-9B3E-6E068946ABB5}" v="52" dt="2026-08-06T12:45:08.9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75080" autoAdjust="0"/>
  </p:normalViewPr>
  <p:slideViewPr>
    <p:cSldViewPr snapToGrid="0">
      <p:cViewPr>
        <p:scale>
          <a:sx n="63" d="100"/>
          <a:sy n="63" d="100"/>
        </p:scale>
        <p:origin x="48" y="30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3572FA-4863-4162-BB88-10298F706315}" type="datetimeFigureOut">
              <a:rPr lang="en-US" smtClean="0"/>
              <a:t>8/6/2026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5EE6BF-1E3B-4F62-AEB6-B9DAE4CB705F}" type="slidenum">
              <a:rPr lang="en-US" smtClean="0"/>
              <a:t>‹#›</a:t>
            </a:fld>
            <a:endParaRPr lang="en-US"/>
          </a:p>
        </p:txBody>
      </p:sp>
    </p:spTree>
    <p:extLst>
      <p:ext uri="{BB962C8B-B14F-4D97-AF65-F5344CB8AC3E}">
        <p14:creationId xmlns:p14="http://schemas.microsoft.com/office/powerpoint/2010/main" val="1766435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a:t>
            </a:r>
          </a:p>
          <a:p>
            <a:pPr marL="171450" indent="-171450">
              <a:buFontTx/>
              <a:buChar char="-"/>
            </a:pPr>
            <a:r>
              <a:rPr lang="en-US" dirty="0"/>
              <a:t>Capstone project predicts railroad accidents risk from FRA Form 54 data, using a two-stage machine learning pipeline.</a:t>
            </a:r>
          </a:p>
          <a:p>
            <a:pPr marL="171450" indent="-171450">
              <a:buFontTx/>
              <a:buChar char="-"/>
            </a:pPr>
            <a:r>
              <a:rPr lang="en-US" dirty="0"/>
              <a:t>One model to estimate a continuous risk score, the other classifies accidents into risk categories, using only information available at the moment an incident occurs.</a:t>
            </a:r>
          </a:p>
        </p:txBody>
      </p:sp>
      <p:sp>
        <p:nvSpPr>
          <p:cNvPr id="4" name="Slide Number Placeholder 3"/>
          <p:cNvSpPr>
            <a:spLocks noGrp="1"/>
          </p:cNvSpPr>
          <p:nvPr>
            <p:ph type="sldNum" sz="quarter" idx="5"/>
          </p:nvPr>
        </p:nvSpPr>
        <p:spPr/>
        <p:txBody>
          <a:bodyPr/>
          <a:lstStyle/>
          <a:p>
            <a:fld id="{055EE6BF-1E3B-4F62-AEB6-B9DAE4CB705F}" type="slidenum">
              <a:rPr lang="en-US" smtClean="0"/>
              <a:t>1</a:t>
            </a:fld>
            <a:endParaRPr lang="en-US"/>
          </a:p>
        </p:txBody>
      </p:sp>
    </p:spTree>
    <p:extLst>
      <p:ext uri="{BB962C8B-B14F-4D97-AF65-F5344CB8AC3E}">
        <p14:creationId xmlns:p14="http://schemas.microsoft.com/office/powerpoint/2010/main" val="25131671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Standardized using </a:t>
            </a:r>
            <a:r>
              <a:rPr lang="en-US" dirty="0" err="1"/>
              <a:t>StandardScaler</a:t>
            </a:r>
            <a:r>
              <a:rPr lang="en-US" dirty="0"/>
              <a:t>.</a:t>
            </a:r>
          </a:p>
          <a:p>
            <a:pPr marL="171450" indent="-171450">
              <a:buFont typeface="Arial" panose="020B0604020202020204" pitchFamily="34" charset="0"/>
              <a:buChar char="•"/>
            </a:pPr>
            <a:r>
              <a:rPr lang="en-US" dirty="0"/>
              <a:t>Ran PCA to find principal component and used its loadings as weights.</a:t>
            </a:r>
          </a:p>
          <a:p>
            <a:pPr marL="171450" indent="-171450">
              <a:buFont typeface="Arial" panose="020B0604020202020204" pitchFamily="34" charset="0"/>
              <a:buChar char="•"/>
            </a:pPr>
            <a:endParaRPr lang="en-US" dirty="0"/>
          </a:p>
          <a:p>
            <a:pPr lvl="0"/>
            <a:r>
              <a:rPr lang="en-US" sz="1200" i="1" kern="1200" dirty="0" err="1">
                <a:solidFill>
                  <a:schemeClr val="tx1"/>
                </a:solidFill>
                <a:effectLst/>
                <a:latin typeface="+mn-lt"/>
                <a:ea typeface="+mn-ea"/>
                <a:cs typeface="+mn-cs"/>
              </a:rPr>
              <a:t>damage_ratio</a:t>
            </a:r>
            <a:r>
              <a:rPr lang="en-US" sz="1200" kern="1200" dirty="0">
                <a:solidFill>
                  <a:schemeClr val="tx1"/>
                </a:solidFill>
                <a:effectLst/>
                <a:latin typeface="+mn-lt"/>
                <a:ea typeface="+mn-ea"/>
                <a:cs typeface="+mn-cs"/>
              </a:rPr>
              <a:t>: 0.369</a:t>
            </a:r>
          </a:p>
          <a:p>
            <a:pPr lvl="0"/>
            <a:r>
              <a:rPr lang="en-US" sz="1200" i="1" kern="1200" dirty="0" err="1">
                <a:solidFill>
                  <a:schemeClr val="tx1"/>
                </a:solidFill>
                <a:effectLst/>
                <a:latin typeface="+mn-lt"/>
                <a:ea typeface="+mn-ea"/>
                <a:cs typeface="+mn-cs"/>
              </a:rPr>
              <a:t>totalpersonskilled</a:t>
            </a:r>
            <a:r>
              <a:rPr lang="en-US" sz="1200" i="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0.346</a:t>
            </a:r>
          </a:p>
          <a:p>
            <a:pPr lvl="0"/>
            <a:r>
              <a:rPr lang="en-US" sz="1200" i="1" kern="1200" dirty="0" err="1">
                <a:solidFill>
                  <a:schemeClr val="tx1"/>
                </a:solidFill>
                <a:effectLst/>
                <a:latin typeface="+mn-lt"/>
                <a:ea typeface="+mn-ea"/>
                <a:cs typeface="+mn-cs"/>
              </a:rPr>
              <a:t>totalpersonsinjured</a:t>
            </a:r>
            <a:r>
              <a:rPr lang="en-US" sz="1200" kern="1200" dirty="0">
                <a:solidFill>
                  <a:schemeClr val="tx1"/>
                </a:solidFill>
                <a:effectLst/>
                <a:latin typeface="+mn-lt"/>
                <a:ea typeface="+mn-ea"/>
                <a:cs typeface="+mn-cs"/>
              </a:rPr>
              <a:t>: 0.285</a:t>
            </a:r>
          </a:p>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055EE6BF-1E3B-4F62-AEB6-B9DAE4CB705F}" type="slidenum">
              <a:rPr lang="en-US" smtClean="0"/>
              <a:t>9</a:t>
            </a:fld>
            <a:endParaRPr lang="en-US"/>
          </a:p>
        </p:txBody>
      </p:sp>
    </p:spTree>
    <p:extLst>
      <p:ext uri="{BB962C8B-B14F-4D97-AF65-F5344CB8AC3E}">
        <p14:creationId xmlns:p14="http://schemas.microsoft.com/office/powerpoint/2010/main" val="8410961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CC4FB-44BE-3748-B955-F29621339C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24E51FC-473E-5013-F77E-9BE0EA0069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AF32333-688E-7BA8-48CD-2D409E4BF25E}"/>
              </a:ext>
            </a:extLst>
          </p:cNvPr>
          <p:cNvSpPr>
            <a:spLocks noGrp="1"/>
          </p:cNvSpPr>
          <p:nvPr>
            <p:ph type="dt" sz="half" idx="10"/>
          </p:nvPr>
        </p:nvSpPr>
        <p:spPr/>
        <p:txBody>
          <a:bodyPr/>
          <a:lstStyle/>
          <a:p>
            <a:fld id="{A98FF8C7-EC61-453F-8B9A-E264A4B83F0C}" type="datetimeFigureOut">
              <a:rPr lang="en-US" smtClean="0"/>
              <a:t>8/6/2026</a:t>
            </a:fld>
            <a:endParaRPr lang="en-US"/>
          </a:p>
        </p:txBody>
      </p:sp>
      <p:sp>
        <p:nvSpPr>
          <p:cNvPr id="5" name="Footer Placeholder 4">
            <a:extLst>
              <a:ext uri="{FF2B5EF4-FFF2-40B4-BE49-F238E27FC236}">
                <a16:creationId xmlns:a16="http://schemas.microsoft.com/office/drawing/2014/main" id="{2F242CA2-1478-6573-0314-63394731BC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E1DEB8-B8EE-4176-96A9-DA5A590080B7}"/>
              </a:ext>
            </a:extLst>
          </p:cNvPr>
          <p:cNvSpPr>
            <a:spLocks noGrp="1"/>
          </p:cNvSpPr>
          <p:nvPr>
            <p:ph type="sldNum" sz="quarter" idx="12"/>
          </p:nvPr>
        </p:nvSpPr>
        <p:spPr/>
        <p:txBody>
          <a:bodyPr/>
          <a:lstStyle/>
          <a:p>
            <a:fld id="{EB18DE3E-0441-4E84-AA95-CE657EC97832}" type="slidenum">
              <a:rPr lang="en-US" smtClean="0"/>
              <a:t>‹#›</a:t>
            </a:fld>
            <a:endParaRPr lang="en-US"/>
          </a:p>
        </p:txBody>
      </p:sp>
    </p:spTree>
    <p:extLst>
      <p:ext uri="{BB962C8B-B14F-4D97-AF65-F5344CB8AC3E}">
        <p14:creationId xmlns:p14="http://schemas.microsoft.com/office/powerpoint/2010/main" val="985519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E897-0404-383A-6C02-DCE49E19FB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B1C0F35-4678-DDDC-25B6-B91A9928141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839789-07D5-FE28-8533-991E6A9870EA}"/>
              </a:ext>
            </a:extLst>
          </p:cNvPr>
          <p:cNvSpPr>
            <a:spLocks noGrp="1"/>
          </p:cNvSpPr>
          <p:nvPr>
            <p:ph type="dt" sz="half" idx="10"/>
          </p:nvPr>
        </p:nvSpPr>
        <p:spPr/>
        <p:txBody>
          <a:bodyPr/>
          <a:lstStyle/>
          <a:p>
            <a:fld id="{A98FF8C7-EC61-453F-8B9A-E264A4B83F0C}" type="datetimeFigureOut">
              <a:rPr lang="en-US" smtClean="0"/>
              <a:t>8/6/2026</a:t>
            </a:fld>
            <a:endParaRPr lang="en-US"/>
          </a:p>
        </p:txBody>
      </p:sp>
      <p:sp>
        <p:nvSpPr>
          <p:cNvPr id="5" name="Footer Placeholder 4">
            <a:extLst>
              <a:ext uri="{FF2B5EF4-FFF2-40B4-BE49-F238E27FC236}">
                <a16:creationId xmlns:a16="http://schemas.microsoft.com/office/drawing/2014/main" id="{618742D5-0C7C-5040-2948-7C7725A0D5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8DACE3-3A60-C992-F1F6-2B158FE30D4E}"/>
              </a:ext>
            </a:extLst>
          </p:cNvPr>
          <p:cNvSpPr>
            <a:spLocks noGrp="1"/>
          </p:cNvSpPr>
          <p:nvPr>
            <p:ph type="sldNum" sz="quarter" idx="12"/>
          </p:nvPr>
        </p:nvSpPr>
        <p:spPr/>
        <p:txBody>
          <a:bodyPr/>
          <a:lstStyle/>
          <a:p>
            <a:fld id="{EB18DE3E-0441-4E84-AA95-CE657EC97832}" type="slidenum">
              <a:rPr lang="en-US" smtClean="0"/>
              <a:t>‹#›</a:t>
            </a:fld>
            <a:endParaRPr lang="en-US"/>
          </a:p>
        </p:txBody>
      </p:sp>
    </p:spTree>
    <p:extLst>
      <p:ext uri="{BB962C8B-B14F-4D97-AF65-F5344CB8AC3E}">
        <p14:creationId xmlns:p14="http://schemas.microsoft.com/office/powerpoint/2010/main" val="2973560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FDD03-396D-B43B-32F6-70900ABE15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516392A-DD18-0DDE-0BB0-58F68C59B7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6DE6947-9E4F-A2C1-4990-9EABF93A1DA2}"/>
              </a:ext>
            </a:extLst>
          </p:cNvPr>
          <p:cNvSpPr>
            <a:spLocks noGrp="1"/>
          </p:cNvSpPr>
          <p:nvPr>
            <p:ph type="dt" sz="half" idx="10"/>
          </p:nvPr>
        </p:nvSpPr>
        <p:spPr/>
        <p:txBody>
          <a:bodyPr/>
          <a:lstStyle/>
          <a:p>
            <a:fld id="{A98FF8C7-EC61-453F-8B9A-E264A4B83F0C}" type="datetimeFigureOut">
              <a:rPr lang="en-US" smtClean="0"/>
              <a:t>8/6/2026</a:t>
            </a:fld>
            <a:endParaRPr lang="en-US"/>
          </a:p>
        </p:txBody>
      </p:sp>
      <p:sp>
        <p:nvSpPr>
          <p:cNvPr id="5" name="Footer Placeholder 4">
            <a:extLst>
              <a:ext uri="{FF2B5EF4-FFF2-40B4-BE49-F238E27FC236}">
                <a16:creationId xmlns:a16="http://schemas.microsoft.com/office/drawing/2014/main" id="{E6080518-4B97-DE8D-60A4-F0145921B0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B38A8D-24EE-0312-A7EB-B324BCBF1489}"/>
              </a:ext>
            </a:extLst>
          </p:cNvPr>
          <p:cNvSpPr>
            <a:spLocks noGrp="1"/>
          </p:cNvSpPr>
          <p:nvPr>
            <p:ph type="sldNum" sz="quarter" idx="12"/>
          </p:nvPr>
        </p:nvSpPr>
        <p:spPr/>
        <p:txBody>
          <a:bodyPr/>
          <a:lstStyle/>
          <a:p>
            <a:fld id="{EB18DE3E-0441-4E84-AA95-CE657EC97832}" type="slidenum">
              <a:rPr lang="en-US" smtClean="0"/>
              <a:t>‹#›</a:t>
            </a:fld>
            <a:endParaRPr lang="en-US"/>
          </a:p>
        </p:txBody>
      </p:sp>
    </p:spTree>
    <p:extLst>
      <p:ext uri="{BB962C8B-B14F-4D97-AF65-F5344CB8AC3E}">
        <p14:creationId xmlns:p14="http://schemas.microsoft.com/office/powerpoint/2010/main" val="2103724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BB279-94BE-6AD1-B981-7517B9CDCF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2A999E-DBA5-2C29-BA54-26191F9465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31083E0-E510-2097-0B08-F871BF5B8E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E4334F5-19C9-30AF-00E9-307519BFEF11}"/>
              </a:ext>
            </a:extLst>
          </p:cNvPr>
          <p:cNvSpPr>
            <a:spLocks noGrp="1"/>
          </p:cNvSpPr>
          <p:nvPr>
            <p:ph type="dt" sz="half" idx="10"/>
          </p:nvPr>
        </p:nvSpPr>
        <p:spPr/>
        <p:txBody>
          <a:bodyPr/>
          <a:lstStyle/>
          <a:p>
            <a:fld id="{A98FF8C7-EC61-453F-8B9A-E264A4B83F0C}" type="datetimeFigureOut">
              <a:rPr lang="en-US" smtClean="0"/>
              <a:t>8/6/2026</a:t>
            </a:fld>
            <a:endParaRPr lang="en-US"/>
          </a:p>
        </p:txBody>
      </p:sp>
      <p:sp>
        <p:nvSpPr>
          <p:cNvPr id="6" name="Footer Placeholder 5">
            <a:extLst>
              <a:ext uri="{FF2B5EF4-FFF2-40B4-BE49-F238E27FC236}">
                <a16:creationId xmlns:a16="http://schemas.microsoft.com/office/drawing/2014/main" id="{32945ED5-DD2D-FCA1-3906-FBABABC0AA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6B6F41-43BC-3D8E-04C6-764FFD41328C}"/>
              </a:ext>
            </a:extLst>
          </p:cNvPr>
          <p:cNvSpPr>
            <a:spLocks noGrp="1"/>
          </p:cNvSpPr>
          <p:nvPr>
            <p:ph type="sldNum" sz="quarter" idx="12"/>
          </p:nvPr>
        </p:nvSpPr>
        <p:spPr/>
        <p:txBody>
          <a:bodyPr/>
          <a:lstStyle/>
          <a:p>
            <a:fld id="{EB18DE3E-0441-4E84-AA95-CE657EC97832}" type="slidenum">
              <a:rPr lang="en-US" smtClean="0"/>
              <a:t>‹#›</a:t>
            </a:fld>
            <a:endParaRPr lang="en-US"/>
          </a:p>
        </p:txBody>
      </p:sp>
    </p:spTree>
    <p:extLst>
      <p:ext uri="{BB962C8B-B14F-4D97-AF65-F5344CB8AC3E}">
        <p14:creationId xmlns:p14="http://schemas.microsoft.com/office/powerpoint/2010/main" val="9577117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4E3E5-CA6A-EABF-E8F0-A82B525573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4787E03-DDA7-DF08-962B-EFB7F29BF7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BF5B4F-81D4-A137-4035-91FB5BAE97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E138AB5-31E7-B69D-C02F-EA4D1E45C3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FD23E39-66DC-F728-8672-1034D7DE3C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D105E6B-BB2C-FC02-4FAC-EC6BBAEA387C}"/>
              </a:ext>
            </a:extLst>
          </p:cNvPr>
          <p:cNvSpPr>
            <a:spLocks noGrp="1"/>
          </p:cNvSpPr>
          <p:nvPr>
            <p:ph type="dt" sz="half" idx="10"/>
          </p:nvPr>
        </p:nvSpPr>
        <p:spPr/>
        <p:txBody>
          <a:bodyPr/>
          <a:lstStyle/>
          <a:p>
            <a:fld id="{A98FF8C7-EC61-453F-8B9A-E264A4B83F0C}" type="datetimeFigureOut">
              <a:rPr lang="en-US" smtClean="0"/>
              <a:t>8/6/2026</a:t>
            </a:fld>
            <a:endParaRPr lang="en-US"/>
          </a:p>
        </p:txBody>
      </p:sp>
      <p:sp>
        <p:nvSpPr>
          <p:cNvPr id="8" name="Footer Placeholder 7">
            <a:extLst>
              <a:ext uri="{FF2B5EF4-FFF2-40B4-BE49-F238E27FC236}">
                <a16:creationId xmlns:a16="http://schemas.microsoft.com/office/drawing/2014/main" id="{12E5E0EB-5BB2-E406-DBB4-A0CE5823250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B3777E1-9285-1368-3B06-C9FBA486AB12}"/>
              </a:ext>
            </a:extLst>
          </p:cNvPr>
          <p:cNvSpPr>
            <a:spLocks noGrp="1"/>
          </p:cNvSpPr>
          <p:nvPr>
            <p:ph type="sldNum" sz="quarter" idx="12"/>
          </p:nvPr>
        </p:nvSpPr>
        <p:spPr/>
        <p:txBody>
          <a:bodyPr/>
          <a:lstStyle/>
          <a:p>
            <a:fld id="{EB18DE3E-0441-4E84-AA95-CE657EC97832}" type="slidenum">
              <a:rPr lang="en-US" smtClean="0"/>
              <a:t>‹#›</a:t>
            </a:fld>
            <a:endParaRPr lang="en-US"/>
          </a:p>
        </p:txBody>
      </p:sp>
    </p:spTree>
    <p:extLst>
      <p:ext uri="{BB962C8B-B14F-4D97-AF65-F5344CB8AC3E}">
        <p14:creationId xmlns:p14="http://schemas.microsoft.com/office/powerpoint/2010/main" val="4432173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189D9-16D2-6D23-48B1-361746ACFB2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15893F0-AEE7-0217-A241-96BBDD793988}"/>
              </a:ext>
            </a:extLst>
          </p:cNvPr>
          <p:cNvSpPr>
            <a:spLocks noGrp="1"/>
          </p:cNvSpPr>
          <p:nvPr>
            <p:ph type="dt" sz="half" idx="10"/>
          </p:nvPr>
        </p:nvSpPr>
        <p:spPr/>
        <p:txBody>
          <a:bodyPr/>
          <a:lstStyle/>
          <a:p>
            <a:fld id="{A98FF8C7-EC61-453F-8B9A-E264A4B83F0C}" type="datetimeFigureOut">
              <a:rPr lang="en-US" smtClean="0"/>
              <a:t>8/6/2026</a:t>
            </a:fld>
            <a:endParaRPr lang="en-US"/>
          </a:p>
        </p:txBody>
      </p:sp>
      <p:sp>
        <p:nvSpPr>
          <p:cNvPr id="4" name="Footer Placeholder 3">
            <a:extLst>
              <a:ext uri="{FF2B5EF4-FFF2-40B4-BE49-F238E27FC236}">
                <a16:creationId xmlns:a16="http://schemas.microsoft.com/office/drawing/2014/main" id="{C287CC92-34D0-9D14-D83B-EE4986CBE2D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3CC2E1D-0F06-E9C4-5056-B60D8A9E4C0D}"/>
              </a:ext>
            </a:extLst>
          </p:cNvPr>
          <p:cNvSpPr>
            <a:spLocks noGrp="1"/>
          </p:cNvSpPr>
          <p:nvPr>
            <p:ph type="sldNum" sz="quarter" idx="12"/>
          </p:nvPr>
        </p:nvSpPr>
        <p:spPr/>
        <p:txBody>
          <a:bodyPr/>
          <a:lstStyle/>
          <a:p>
            <a:fld id="{EB18DE3E-0441-4E84-AA95-CE657EC97832}" type="slidenum">
              <a:rPr lang="en-US" smtClean="0"/>
              <a:t>‹#›</a:t>
            </a:fld>
            <a:endParaRPr lang="en-US"/>
          </a:p>
        </p:txBody>
      </p:sp>
    </p:spTree>
    <p:extLst>
      <p:ext uri="{BB962C8B-B14F-4D97-AF65-F5344CB8AC3E}">
        <p14:creationId xmlns:p14="http://schemas.microsoft.com/office/powerpoint/2010/main" val="1483925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C363BD-6768-B752-BC85-D77C56D24E2D}"/>
              </a:ext>
            </a:extLst>
          </p:cNvPr>
          <p:cNvSpPr>
            <a:spLocks noGrp="1"/>
          </p:cNvSpPr>
          <p:nvPr>
            <p:ph type="dt" sz="half" idx="10"/>
          </p:nvPr>
        </p:nvSpPr>
        <p:spPr/>
        <p:txBody>
          <a:bodyPr/>
          <a:lstStyle/>
          <a:p>
            <a:fld id="{A98FF8C7-EC61-453F-8B9A-E264A4B83F0C}" type="datetimeFigureOut">
              <a:rPr lang="en-US" smtClean="0"/>
              <a:t>8/6/2026</a:t>
            </a:fld>
            <a:endParaRPr lang="en-US"/>
          </a:p>
        </p:txBody>
      </p:sp>
      <p:sp>
        <p:nvSpPr>
          <p:cNvPr id="3" name="Footer Placeholder 2">
            <a:extLst>
              <a:ext uri="{FF2B5EF4-FFF2-40B4-BE49-F238E27FC236}">
                <a16:creationId xmlns:a16="http://schemas.microsoft.com/office/drawing/2014/main" id="{BBDAE8C6-C0EA-0A5E-6BCE-4165C97B259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D84841C-98DC-17E0-0750-345CEC8068BB}"/>
              </a:ext>
            </a:extLst>
          </p:cNvPr>
          <p:cNvSpPr>
            <a:spLocks noGrp="1"/>
          </p:cNvSpPr>
          <p:nvPr>
            <p:ph type="sldNum" sz="quarter" idx="12"/>
          </p:nvPr>
        </p:nvSpPr>
        <p:spPr/>
        <p:txBody>
          <a:bodyPr/>
          <a:lstStyle/>
          <a:p>
            <a:fld id="{EB18DE3E-0441-4E84-AA95-CE657EC97832}" type="slidenum">
              <a:rPr lang="en-US" smtClean="0"/>
              <a:t>‹#›</a:t>
            </a:fld>
            <a:endParaRPr lang="en-US"/>
          </a:p>
        </p:txBody>
      </p:sp>
    </p:spTree>
    <p:extLst>
      <p:ext uri="{BB962C8B-B14F-4D97-AF65-F5344CB8AC3E}">
        <p14:creationId xmlns:p14="http://schemas.microsoft.com/office/powerpoint/2010/main" val="2043081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8C845-4C5B-3A38-34FD-1E0F33C994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FD17696-29B6-3C42-B9FE-55EE20D8EB8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1856EB3-3FB0-D7B6-1473-5BCE688B15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C5F18F-5F35-FBE6-159C-A64A1670486E}"/>
              </a:ext>
            </a:extLst>
          </p:cNvPr>
          <p:cNvSpPr>
            <a:spLocks noGrp="1"/>
          </p:cNvSpPr>
          <p:nvPr>
            <p:ph type="dt" sz="half" idx="10"/>
          </p:nvPr>
        </p:nvSpPr>
        <p:spPr/>
        <p:txBody>
          <a:bodyPr/>
          <a:lstStyle/>
          <a:p>
            <a:fld id="{A98FF8C7-EC61-453F-8B9A-E264A4B83F0C}" type="datetimeFigureOut">
              <a:rPr lang="en-US" smtClean="0"/>
              <a:t>8/6/2026</a:t>
            </a:fld>
            <a:endParaRPr lang="en-US"/>
          </a:p>
        </p:txBody>
      </p:sp>
      <p:sp>
        <p:nvSpPr>
          <p:cNvPr id="6" name="Footer Placeholder 5">
            <a:extLst>
              <a:ext uri="{FF2B5EF4-FFF2-40B4-BE49-F238E27FC236}">
                <a16:creationId xmlns:a16="http://schemas.microsoft.com/office/drawing/2014/main" id="{0CB85034-59DE-B97F-05D9-164E0F98C3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7B0D2A-480D-5627-DADE-5D29C164A9B3}"/>
              </a:ext>
            </a:extLst>
          </p:cNvPr>
          <p:cNvSpPr>
            <a:spLocks noGrp="1"/>
          </p:cNvSpPr>
          <p:nvPr>
            <p:ph type="sldNum" sz="quarter" idx="12"/>
          </p:nvPr>
        </p:nvSpPr>
        <p:spPr/>
        <p:txBody>
          <a:bodyPr/>
          <a:lstStyle/>
          <a:p>
            <a:fld id="{EB18DE3E-0441-4E84-AA95-CE657EC97832}" type="slidenum">
              <a:rPr lang="en-US" smtClean="0"/>
              <a:t>‹#›</a:t>
            </a:fld>
            <a:endParaRPr lang="en-US"/>
          </a:p>
        </p:txBody>
      </p:sp>
    </p:spTree>
    <p:extLst>
      <p:ext uri="{BB962C8B-B14F-4D97-AF65-F5344CB8AC3E}">
        <p14:creationId xmlns:p14="http://schemas.microsoft.com/office/powerpoint/2010/main" val="17610684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221B2-319C-5C4E-C773-A8D93B4CD9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04624FF-BB24-2731-15D1-E98CA811F1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DE6D68A-E771-4795-8923-8233137581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C6DE4B-8F8F-63FD-EAC7-30DFA5CE5E8F}"/>
              </a:ext>
            </a:extLst>
          </p:cNvPr>
          <p:cNvSpPr>
            <a:spLocks noGrp="1"/>
          </p:cNvSpPr>
          <p:nvPr>
            <p:ph type="dt" sz="half" idx="10"/>
          </p:nvPr>
        </p:nvSpPr>
        <p:spPr/>
        <p:txBody>
          <a:bodyPr/>
          <a:lstStyle/>
          <a:p>
            <a:fld id="{A98FF8C7-EC61-453F-8B9A-E264A4B83F0C}" type="datetimeFigureOut">
              <a:rPr lang="en-US" smtClean="0"/>
              <a:t>8/6/2026</a:t>
            </a:fld>
            <a:endParaRPr lang="en-US"/>
          </a:p>
        </p:txBody>
      </p:sp>
      <p:sp>
        <p:nvSpPr>
          <p:cNvPr id="6" name="Footer Placeholder 5">
            <a:extLst>
              <a:ext uri="{FF2B5EF4-FFF2-40B4-BE49-F238E27FC236}">
                <a16:creationId xmlns:a16="http://schemas.microsoft.com/office/drawing/2014/main" id="{C1B63FD4-08E6-F4FE-E15D-755E504D70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D4F801-3DEB-60CF-C9FD-2A1EEC28D17F}"/>
              </a:ext>
            </a:extLst>
          </p:cNvPr>
          <p:cNvSpPr>
            <a:spLocks noGrp="1"/>
          </p:cNvSpPr>
          <p:nvPr>
            <p:ph type="sldNum" sz="quarter" idx="12"/>
          </p:nvPr>
        </p:nvSpPr>
        <p:spPr/>
        <p:txBody>
          <a:bodyPr/>
          <a:lstStyle/>
          <a:p>
            <a:fld id="{EB18DE3E-0441-4E84-AA95-CE657EC97832}" type="slidenum">
              <a:rPr lang="en-US" smtClean="0"/>
              <a:t>‹#›</a:t>
            </a:fld>
            <a:endParaRPr lang="en-US"/>
          </a:p>
        </p:txBody>
      </p:sp>
    </p:spTree>
    <p:extLst>
      <p:ext uri="{BB962C8B-B14F-4D97-AF65-F5344CB8AC3E}">
        <p14:creationId xmlns:p14="http://schemas.microsoft.com/office/powerpoint/2010/main" val="144183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BB99A-7073-494D-0211-CF56FC30EF5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78E881-FBEF-1087-0961-4A33DCCF26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B7B900-C6AC-37CB-46D8-F17E4B724558}"/>
              </a:ext>
            </a:extLst>
          </p:cNvPr>
          <p:cNvSpPr>
            <a:spLocks noGrp="1"/>
          </p:cNvSpPr>
          <p:nvPr>
            <p:ph type="dt" sz="half" idx="10"/>
          </p:nvPr>
        </p:nvSpPr>
        <p:spPr/>
        <p:txBody>
          <a:bodyPr/>
          <a:lstStyle/>
          <a:p>
            <a:fld id="{A98FF8C7-EC61-453F-8B9A-E264A4B83F0C}" type="datetimeFigureOut">
              <a:rPr lang="en-US" smtClean="0"/>
              <a:t>8/6/2026</a:t>
            </a:fld>
            <a:endParaRPr lang="en-US"/>
          </a:p>
        </p:txBody>
      </p:sp>
      <p:sp>
        <p:nvSpPr>
          <p:cNvPr id="5" name="Footer Placeholder 4">
            <a:extLst>
              <a:ext uri="{FF2B5EF4-FFF2-40B4-BE49-F238E27FC236}">
                <a16:creationId xmlns:a16="http://schemas.microsoft.com/office/drawing/2014/main" id="{089BF561-971D-BCB4-CB12-F5C017A803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F7FB39-6D65-3CAA-1285-2C8E3B199926}"/>
              </a:ext>
            </a:extLst>
          </p:cNvPr>
          <p:cNvSpPr>
            <a:spLocks noGrp="1"/>
          </p:cNvSpPr>
          <p:nvPr>
            <p:ph type="sldNum" sz="quarter" idx="12"/>
          </p:nvPr>
        </p:nvSpPr>
        <p:spPr/>
        <p:txBody>
          <a:bodyPr/>
          <a:lstStyle/>
          <a:p>
            <a:fld id="{EB18DE3E-0441-4E84-AA95-CE657EC97832}" type="slidenum">
              <a:rPr lang="en-US" smtClean="0"/>
              <a:t>‹#›</a:t>
            </a:fld>
            <a:endParaRPr lang="en-US"/>
          </a:p>
        </p:txBody>
      </p:sp>
    </p:spTree>
    <p:extLst>
      <p:ext uri="{BB962C8B-B14F-4D97-AF65-F5344CB8AC3E}">
        <p14:creationId xmlns:p14="http://schemas.microsoft.com/office/powerpoint/2010/main" val="2394366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325CA5-BADB-3B68-E3AA-ED56E2C4B1C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1CD9A53-D6DC-8CB5-1BD6-3048952DB0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7689CC-1D82-1525-485B-7C6EDC10F0C3}"/>
              </a:ext>
            </a:extLst>
          </p:cNvPr>
          <p:cNvSpPr>
            <a:spLocks noGrp="1"/>
          </p:cNvSpPr>
          <p:nvPr>
            <p:ph type="dt" sz="half" idx="10"/>
          </p:nvPr>
        </p:nvSpPr>
        <p:spPr/>
        <p:txBody>
          <a:bodyPr/>
          <a:lstStyle/>
          <a:p>
            <a:fld id="{A98FF8C7-EC61-453F-8B9A-E264A4B83F0C}" type="datetimeFigureOut">
              <a:rPr lang="en-US" smtClean="0"/>
              <a:t>8/6/2026</a:t>
            </a:fld>
            <a:endParaRPr lang="en-US"/>
          </a:p>
        </p:txBody>
      </p:sp>
      <p:sp>
        <p:nvSpPr>
          <p:cNvPr id="5" name="Footer Placeholder 4">
            <a:extLst>
              <a:ext uri="{FF2B5EF4-FFF2-40B4-BE49-F238E27FC236}">
                <a16:creationId xmlns:a16="http://schemas.microsoft.com/office/drawing/2014/main" id="{694D9F34-C69E-919D-C8CF-4C646BE393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C8D448-6201-D24B-20DF-0F54795FE2CF}"/>
              </a:ext>
            </a:extLst>
          </p:cNvPr>
          <p:cNvSpPr>
            <a:spLocks noGrp="1"/>
          </p:cNvSpPr>
          <p:nvPr>
            <p:ph type="sldNum" sz="quarter" idx="12"/>
          </p:nvPr>
        </p:nvSpPr>
        <p:spPr/>
        <p:txBody>
          <a:bodyPr/>
          <a:lstStyle/>
          <a:p>
            <a:fld id="{EB18DE3E-0441-4E84-AA95-CE657EC97832}" type="slidenum">
              <a:rPr lang="en-US" smtClean="0"/>
              <a:t>‹#›</a:t>
            </a:fld>
            <a:endParaRPr lang="en-US"/>
          </a:p>
        </p:txBody>
      </p:sp>
    </p:spTree>
    <p:extLst>
      <p:ext uri="{BB962C8B-B14F-4D97-AF65-F5344CB8AC3E}">
        <p14:creationId xmlns:p14="http://schemas.microsoft.com/office/powerpoint/2010/main" val="17706519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7D8FAC-EE67-D9CC-B9CA-1E341DACF6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66943B6-4EFA-EFE9-FAEE-DA90BD37A4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42B2F7-3CD2-D285-A5AE-BB1E712467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98FF8C7-EC61-453F-8B9A-E264A4B83F0C}" type="datetimeFigureOut">
              <a:rPr lang="en-US" smtClean="0"/>
              <a:t>8/6/2026</a:t>
            </a:fld>
            <a:endParaRPr lang="en-US"/>
          </a:p>
        </p:txBody>
      </p:sp>
      <p:sp>
        <p:nvSpPr>
          <p:cNvPr id="5" name="Footer Placeholder 4">
            <a:extLst>
              <a:ext uri="{FF2B5EF4-FFF2-40B4-BE49-F238E27FC236}">
                <a16:creationId xmlns:a16="http://schemas.microsoft.com/office/drawing/2014/main" id="{EB58607A-E93A-E5F7-2F06-964BBD713E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A2A5280-EA77-42F9-9CBB-DDF5C44EAA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18DE3E-0441-4E84-AA95-CE657EC97832}" type="slidenum">
              <a:rPr lang="en-US" smtClean="0"/>
              <a:t>‹#›</a:t>
            </a:fld>
            <a:endParaRPr lang="en-US"/>
          </a:p>
        </p:txBody>
      </p:sp>
    </p:spTree>
    <p:extLst>
      <p:ext uri="{BB962C8B-B14F-4D97-AF65-F5344CB8AC3E}">
        <p14:creationId xmlns:p14="http://schemas.microsoft.com/office/powerpoint/2010/main" val="17429941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loseup of railroad train track in black and white">
            <a:extLst>
              <a:ext uri="{FF2B5EF4-FFF2-40B4-BE49-F238E27FC236}">
                <a16:creationId xmlns:a16="http://schemas.microsoft.com/office/drawing/2014/main" id="{16C11A0E-DAA2-EA7E-5123-AA7D17A61783}"/>
              </a:ext>
            </a:extLst>
          </p:cNvPr>
          <p:cNvPicPr>
            <a:picLocks noChangeAspect="1"/>
          </p:cNvPicPr>
          <p:nvPr/>
        </p:nvPicPr>
        <p:blipFill>
          <a:blip r:embed="rId3">
            <a:alphaModFix amt="50000"/>
            <a:extLst>
              <a:ext uri="{28A0092B-C50C-407E-A947-70E740481C1C}">
                <a14:useLocalDpi xmlns:a14="http://schemas.microsoft.com/office/drawing/2010/main" val="0"/>
              </a:ext>
            </a:extLst>
          </a:blip>
          <a:srcRect b="15730"/>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5A79CE85-58C8-ABBD-47CD-2393CA968934}"/>
              </a:ext>
            </a:extLst>
          </p:cNvPr>
          <p:cNvSpPr>
            <a:spLocks noGrp="1"/>
          </p:cNvSpPr>
          <p:nvPr>
            <p:ph type="ctrTitle"/>
          </p:nvPr>
        </p:nvSpPr>
        <p:spPr>
          <a:xfrm>
            <a:off x="1524000" y="1122362"/>
            <a:ext cx="9144000" cy="2900518"/>
          </a:xfrm>
        </p:spPr>
        <p:txBody>
          <a:bodyPr>
            <a:normAutofit/>
          </a:bodyPr>
          <a:lstStyle/>
          <a:p>
            <a:r>
              <a:rPr lang="en-US" b="1" dirty="0">
                <a:solidFill>
                  <a:srgbClr val="FFFFFF"/>
                </a:solidFill>
                <a:latin typeface="+mn-lt"/>
                <a:ea typeface="Batang" panose="02030600000101010101" pitchFamily="18" charset="-127"/>
              </a:rPr>
              <a:t>Railroad Accident/Incident Risk Report</a:t>
            </a:r>
          </a:p>
        </p:txBody>
      </p:sp>
      <p:sp>
        <p:nvSpPr>
          <p:cNvPr id="3" name="Subtitle 2">
            <a:extLst>
              <a:ext uri="{FF2B5EF4-FFF2-40B4-BE49-F238E27FC236}">
                <a16:creationId xmlns:a16="http://schemas.microsoft.com/office/drawing/2014/main" id="{CCD36A33-990B-1268-A764-8E45100C0DBD}"/>
              </a:ext>
            </a:extLst>
          </p:cNvPr>
          <p:cNvSpPr>
            <a:spLocks noGrp="1"/>
          </p:cNvSpPr>
          <p:nvPr>
            <p:ph type="subTitle" idx="1"/>
          </p:nvPr>
        </p:nvSpPr>
        <p:spPr>
          <a:xfrm>
            <a:off x="1524000" y="4159404"/>
            <a:ext cx="9144000" cy="1098395"/>
          </a:xfrm>
        </p:spPr>
        <p:txBody>
          <a:bodyPr>
            <a:normAutofit/>
          </a:bodyPr>
          <a:lstStyle/>
          <a:p>
            <a:r>
              <a:rPr lang="en-US" b="1" dirty="0">
                <a:solidFill>
                  <a:srgbClr val="FFFFFF"/>
                </a:solidFill>
                <a:ea typeface="Batang" panose="02030600000101010101" pitchFamily="18" charset="-127"/>
              </a:rPr>
              <a:t>Tanner Hilt</a:t>
            </a:r>
          </a:p>
        </p:txBody>
      </p:sp>
    </p:spTree>
    <p:extLst>
      <p:ext uri="{BB962C8B-B14F-4D97-AF65-F5344CB8AC3E}">
        <p14:creationId xmlns:p14="http://schemas.microsoft.com/office/powerpoint/2010/main" val="125094408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2AA1A-799E-0F2D-A760-7AED75DEAB64}"/>
              </a:ext>
            </a:extLst>
          </p:cNvPr>
          <p:cNvSpPr>
            <a:spLocks noGrp="1"/>
          </p:cNvSpPr>
          <p:nvPr>
            <p:ph type="title"/>
          </p:nvPr>
        </p:nvSpPr>
        <p:spPr/>
        <p:txBody>
          <a:bodyPr/>
          <a:lstStyle/>
          <a:p>
            <a:r>
              <a:rPr lang="en-US" b="1" dirty="0"/>
              <a:t>Agenda</a:t>
            </a:r>
          </a:p>
        </p:txBody>
      </p:sp>
      <p:sp>
        <p:nvSpPr>
          <p:cNvPr id="3" name="Content Placeholder 2">
            <a:extLst>
              <a:ext uri="{FF2B5EF4-FFF2-40B4-BE49-F238E27FC236}">
                <a16:creationId xmlns:a16="http://schemas.microsoft.com/office/drawing/2014/main" id="{B82C1BFA-375E-96D9-525E-A4E32F53C7C9}"/>
              </a:ext>
            </a:extLst>
          </p:cNvPr>
          <p:cNvSpPr>
            <a:spLocks noGrp="1"/>
          </p:cNvSpPr>
          <p:nvPr>
            <p:ph idx="1"/>
          </p:nvPr>
        </p:nvSpPr>
        <p:spPr/>
        <p:txBody>
          <a:bodyPr/>
          <a:lstStyle/>
          <a:p>
            <a:pPr marL="514350" indent="-514350">
              <a:buFont typeface="+mj-lt"/>
              <a:buAutoNum type="arabicPeriod"/>
            </a:pPr>
            <a:r>
              <a:rPr lang="en-US" b="1" dirty="0"/>
              <a:t>Capstone/ Data Setup</a:t>
            </a:r>
          </a:p>
          <a:p>
            <a:pPr marL="514350" indent="-514350">
              <a:buFont typeface="+mj-lt"/>
              <a:buAutoNum type="arabicPeriod"/>
            </a:pPr>
            <a:r>
              <a:rPr lang="en-US" b="1" dirty="0"/>
              <a:t>Preprocessing/ Feature Engineering</a:t>
            </a:r>
          </a:p>
          <a:p>
            <a:pPr marL="514350" indent="-514350">
              <a:buFont typeface="+mj-lt"/>
              <a:buAutoNum type="arabicPeriod"/>
            </a:pPr>
            <a:r>
              <a:rPr lang="en-US" b="1" dirty="0"/>
              <a:t>EDA</a:t>
            </a:r>
          </a:p>
          <a:p>
            <a:pPr marL="514350" indent="-514350">
              <a:buFont typeface="+mj-lt"/>
              <a:buAutoNum type="arabicPeriod"/>
            </a:pPr>
            <a:r>
              <a:rPr lang="en-US" b="1" dirty="0"/>
              <a:t>Methodology</a:t>
            </a:r>
          </a:p>
          <a:p>
            <a:pPr marL="514350" indent="-514350">
              <a:buFont typeface="+mj-lt"/>
              <a:buAutoNum type="arabicPeriod"/>
            </a:pPr>
            <a:r>
              <a:rPr lang="en-US" b="1" dirty="0"/>
              <a:t>Evaluation</a:t>
            </a:r>
          </a:p>
          <a:p>
            <a:pPr marL="514350" indent="-514350">
              <a:buFont typeface="+mj-lt"/>
              <a:buAutoNum type="arabicPeriod"/>
            </a:pPr>
            <a:r>
              <a:rPr lang="en-US" b="1" dirty="0"/>
              <a:t>Conclusion</a:t>
            </a:r>
          </a:p>
          <a:p>
            <a:endParaRPr lang="en-US" b="1" dirty="0"/>
          </a:p>
          <a:p>
            <a:endParaRPr lang="en-US" b="1" dirty="0"/>
          </a:p>
          <a:p>
            <a:endParaRPr lang="en-US" b="1" dirty="0"/>
          </a:p>
          <a:p>
            <a:endParaRPr lang="en-US" dirty="0"/>
          </a:p>
        </p:txBody>
      </p:sp>
    </p:spTree>
    <p:extLst>
      <p:ext uri="{BB962C8B-B14F-4D97-AF65-F5344CB8AC3E}">
        <p14:creationId xmlns:p14="http://schemas.microsoft.com/office/powerpoint/2010/main" val="4288875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710AF-38DE-85BC-048F-DA79F530E9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27E0CF-9025-27B7-157C-C5D3E5DD9831}"/>
              </a:ext>
            </a:extLst>
          </p:cNvPr>
          <p:cNvSpPr>
            <a:spLocks noGrp="1"/>
          </p:cNvSpPr>
          <p:nvPr>
            <p:ph type="ctrTitle"/>
          </p:nvPr>
        </p:nvSpPr>
        <p:spPr/>
        <p:txBody>
          <a:bodyPr/>
          <a:lstStyle/>
          <a:p>
            <a:r>
              <a:rPr lang="en-US" b="1" dirty="0"/>
              <a:t>Capstone/ Data Setup</a:t>
            </a:r>
          </a:p>
        </p:txBody>
      </p:sp>
      <p:sp>
        <p:nvSpPr>
          <p:cNvPr id="3" name="Subtitle 2">
            <a:extLst>
              <a:ext uri="{FF2B5EF4-FFF2-40B4-BE49-F238E27FC236}">
                <a16:creationId xmlns:a16="http://schemas.microsoft.com/office/drawing/2014/main" id="{78FA6DB7-D48C-1F09-9B82-A9B723C30120}"/>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780215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911BF-1CEA-4C42-2522-5147624B9872}"/>
              </a:ext>
            </a:extLst>
          </p:cNvPr>
          <p:cNvSpPr>
            <a:spLocks noGrp="1"/>
          </p:cNvSpPr>
          <p:nvPr>
            <p:ph type="title"/>
          </p:nvPr>
        </p:nvSpPr>
        <p:spPr/>
        <p:txBody>
          <a:bodyPr/>
          <a:lstStyle/>
          <a:p>
            <a:r>
              <a:rPr lang="en-US" b="1" dirty="0"/>
              <a:t>Problem Setup</a:t>
            </a:r>
          </a:p>
        </p:txBody>
      </p:sp>
      <p:sp>
        <p:nvSpPr>
          <p:cNvPr id="3" name="Content Placeholder 2">
            <a:extLst>
              <a:ext uri="{FF2B5EF4-FFF2-40B4-BE49-F238E27FC236}">
                <a16:creationId xmlns:a16="http://schemas.microsoft.com/office/drawing/2014/main" id="{8DF4BC07-8EAA-8F83-13DD-014513669804}"/>
              </a:ext>
            </a:extLst>
          </p:cNvPr>
          <p:cNvSpPr>
            <a:spLocks noGrp="1"/>
          </p:cNvSpPr>
          <p:nvPr>
            <p:ph idx="1"/>
          </p:nvPr>
        </p:nvSpPr>
        <p:spPr/>
        <p:txBody>
          <a:bodyPr>
            <a:normAutofit lnSpcReduction="10000"/>
          </a:bodyPr>
          <a:lstStyle/>
          <a:p>
            <a:pPr marL="0" indent="0">
              <a:buNone/>
            </a:pPr>
            <a:r>
              <a:rPr lang="en-US" b="1" dirty="0">
                <a:ea typeface="Gadugi" panose="020B0502040204020203" pitchFamily="34" charset="0"/>
              </a:rPr>
              <a:t>Research Question:</a:t>
            </a:r>
          </a:p>
          <a:p>
            <a:pPr marL="0" indent="0">
              <a:buNone/>
            </a:pPr>
            <a:r>
              <a:rPr lang="en-US" dirty="0">
                <a:ea typeface="Gadugi" panose="020B0502040204020203" pitchFamily="34" charset="0"/>
              </a:rPr>
              <a:t>Is it possible to develop a risk model that helps professionals in the railroad industry determine the severity of an accident/ incident involving equipment?</a:t>
            </a:r>
          </a:p>
          <a:p>
            <a:pPr marL="0" indent="0">
              <a:buNone/>
            </a:pPr>
            <a:endParaRPr lang="en-US" b="1" dirty="0"/>
          </a:p>
          <a:p>
            <a:pPr marL="0" indent="0">
              <a:buNone/>
            </a:pPr>
            <a:r>
              <a:rPr lang="en-US" b="1" dirty="0"/>
              <a:t>Hypothesis: </a:t>
            </a:r>
          </a:p>
          <a:p>
            <a:pPr marL="0" indent="0">
              <a:buNone/>
            </a:pPr>
            <a:r>
              <a:rPr lang="en-US" dirty="0"/>
              <a:t>Pre-incident features from the FRA Form 6180.54 data source provide enough information to establish risk scores and classifications for railroad accidents more effectively than a dummy model.</a:t>
            </a:r>
            <a:endParaRPr lang="en-US" b="1" dirty="0"/>
          </a:p>
        </p:txBody>
      </p:sp>
    </p:spTree>
    <p:extLst>
      <p:ext uri="{BB962C8B-B14F-4D97-AF65-F5344CB8AC3E}">
        <p14:creationId xmlns:p14="http://schemas.microsoft.com/office/powerpoint/2010/main" val="875406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F21DB-8365-FA72-415D-ABBEE6C395EE}"/>
              </a:ext>
            </a:extLst>
          </p:cNvPr>
          <p:cNvSpPr>
            <a:spLocks noGrp="1"/>
          </p:cNvSpPr>
          <p:nvPr>
            <p:ph type="title"/>
          </p:nvPr>
        </p:nvSpPr>
        <p:spPr/>
        <p:txBody>
          <a:bodyPr/>
          <a:lstStyle/>
          <a:p>
            <a:r>
              <a:rPr lang="en-US" b="1" dirty="0"/>
              <a:t>Dataset Source</a:t>
            </a:r>
          </a:p>
        </p:txBody>
      </p:sp>
      <p:sp>
        <p:nvSpPr>
          <p:cNvPr id="3" name="Content Placeholder 2">
            <a:extLst>
              <a:ext uri="{FF2B5EF4-FFF2-40B4-BE49-F238E27FC236}">
                <a16:creationId xmlns:a16="http://schemas.microsoft.com/office/drawing/2014/main" id="{D2C5D8D1-AE88-FA97-C0A5-70681CEB15DF}"/>
              </a:ext>
            </a:extLst>
          </p:cNvPr>
          <p:cNvSpPr>
            <a:spLocks noGrp="1"/>
          </p:cNvSpPr>
          <p:nvPr>
            <p:ph idx="1"/>
          </p:nvPr>
        </p:nvSpPr>
        <p:spPr>
          <a:xfrm>
            <a:off x="838200" y="1602160"/>
            <a:ext cx="10515600" cy="1603375"/>
          </a:xfrm>
        </p:spPr>
        <p:txBody>
          <a:bodyPr/>
          <a:lstStyle/>
          <a:p>
            <a:r>
              <a:rPr lang="en-US" dirty="0"/>
              <a:t>Department of Transportation – </a:t>
            </a:r>
            <a:r>
              <a:rPr lang="en-US" dirty="0" err="1"/>
              <a:t>Data.Transportation.Gov</a:t>
            </a:r>
            <a:endParaRPr lang="en-US" dirty="0"/>
          </a:p>
          <a:p>
            <a:r>
              <a:rPr lang="en-US" dirty="0"/>
              <a:t>Form 6180.54 from FRA</a:t>
            </a:r>
          </a:p>
          <a:p>
            <a:r>
              <a:rPr lang="en-US" dirty="0"/>
              <a:t>Active dataset</a:t>
            </a:r>
          </a:p>
          <a:p>
            <a:pPr marL="0" indent="0">
              <a:buNone/>
            </a:pPr>
            <a:endParaRPr lang="en-US" dirty="0"/>
          </a:p>
        </p:txBody>
      </p:sp>
      <p:sp>
        <p:nvSpPr>
          <p:cNvPr id="4" name="Content Placeholder 2">
            <a:extLst>
              <a:ext uri="{FF2B5EF4-FFF2-40B4-BE49-F238E27FC236}">
                <a16:creationId xmlns:a16="http://schemas.microsoft.com/office/drawing/2014/main" id="{2E040E77-1049-29BA-C3C0-E85C7E49E7BE}"/>
              </a:ext>
            </a:extLst>
          </p:cNvPr>
          <p:cNvSpPr txBox="1">
            <a:spLocks/>
          </p:cNvSpPr>
          <p:nvPr/>
        </p:nvSpPr>
        <p:spPr>
          <a:xfrm>
            <a:off x="838200" y="4720384"/>
            <a:ext cx="10515600" cy="16033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Database: PostgreSQL</a:t>
            </a:r>
          </a:p>
          <a:p>
            <a:r>
              <a:rPr lang="en-US" dirty="0"/>
              <a:t>224,700 records | 155 features</a:t>
            </a:r>
          </a:p>
          <a:p>
            <a:r>
              <a:rPr lang="en-US" dirty="0"/>
              <a:t>Range: 1975 – 2026 </a:t>
            </a:r>
          </a:p>
        </p:txBody>
      </p:sp>
      <p:sp>
        <p:nvSpPr>
          <p:cNvPr id="8" name="Title 1">
            <a:extLst>
              <a:ext uri="{FF2B5EF4-FFF2-40B4-BE49-F238E27FC236}">
                <a16:creationId xmlns:a16="http://schemas.microsoft.com/office/drawing/2014/main" id="{0A53E327-30F5-9DAA-9C0A-8F7AC31C824B}"/>
              </a:ext>
            </a:extLst>
          </p:cNvPr>
          <p:cNvSpPr txBox="1">
            <a:spLocks/>
          </p:cNvSpPr>
          <p:nvPr/>
        </p:nvSpPr>
        <p:spPr>
          <a:xfrm>
            <a:off x="838200" y="320553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Dataset Overview</a:t>
            </a:r>
          </a:p>
        </p:txBody>
      </p:sp>
    </p:spTree>
    <p:extLst>
      <p:ext uri="{BB962C8B-B14F-4D97-AF65-F5344CB8AC3E}">
        <p14:creationId xmlns:p14="http://schemas.microsoft.com/office/powerpoint/2010/main" val="38471318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1D0AF59-99C3-4251-AB9A-C966C6AD44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855405F-37A2-4869-9154-F8BE3BECE6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CA121971-C478-E98D-99E2-2651F1E339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467" y="1411562"/>
            <a:ext cx="10905066" cy="4034875"/>
          </a:xfrm>
          <a:prstGeom prst="rect">
            <a:avLst/>
          </a:prstGeom>
        </p:spPr>
      </p:pic>
    </p:spTree>
    <p:extLst>
      <p:ext uri="{BB962C8B-B14F-4D97-AF65-F5344CB8AC3E}">
        <p14:creationId xmlns:p14="http://schemas.microsoft.com/office/powerpoint/2010/main" val="1231582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39D51-4D0F-7EB4-EE69-295BF73DE1D2}"/>
              </a:ext>
            </a:extLst>
          </p:cNvPr>
          <p:cNvSpPr>
            <a:spLocks noGrp="1"/>
          </p:cNvSpPr>
          <p:nvPr>
            <p:ph type="ctrTitle"/>
          </p:nvPr>
        </p:nvSpPr>
        <p:spPr/>
        <p:txBody>
          <a:bodyPr/>
          <a:lstStyle/>
          <a:p>
            <a:r>
              <a:rPr lang="en-US" b="1" dirty="0"/>
              <a:t>Preprocessing/ Feature Engineering</a:t>
            </a:r>
          </a:p>
        </p:txBody>
      </p:sp>
      <p:sp>
        <p:nvSpPr>
          <p:cNvPr id="3" name="Subtitle 2">
            <a:extLst>
              <a:ext uri="{FF2B5EF4-FFF2-40B4-BE49-F238E27FC236}">
                <a16:creationId xmlns:a16="http://schemas.microsoft.com/office/drawing/2014/main" id="{9F3FA9BC-AE90-1459-921C-8C5F9CBCD10B}"/>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070212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7BF10-56C3-16D5-BC00-5983AC83ED81}"/>
              </a:ext>
            </a:extLst>
          </p:cNvPr>
          <p:cNvSpPr>
            <a:spLocks noGrp="1"/>
          </p:cNvSpPr>
          <p:nvPr>
            <p:ph type="title"/>
          </p:nvPr>
        </p:nvSpPr>
        <p:spPr/>
        <p:txBody>
          <a:bodyPr/>
          <a:lstStyle/>
          <a:p>
            <a:r>
              <a:rPr lang="en-US" b="1" dirty="0"/>
              <a:t>Data Preprocessing</a:t>
            </a:r>
          </a:p>
        </p:txBody>
      </p:sp>
      <p:sp>
        <p:nvSpPr>
          <p:cNvPr id="3" name="Content Placeholder 2">
            <a:extLst>
              <a:ext uri="{FF2B5EF4-FFF2-40B4-BE49-F238E27FC236}">
                <a16:creationId xmlns:a16="http://schemas.microsoft.com/office/drawing/2014/main" id="{B82CF77D-EB35-6541-C4AE-294F775CE6C0}"/>
              </a:ext>
            </a:extLst>
          </p:cNvPr>
          <p:cNvSpPr>
            <a:spLocks noGrp="1"/>
          </p:cNvSpPr>
          <p:nvPr>
            <p:ph idx="1"/>
          </p:nvPr>
        </p:nvSpPr>
        <p:spPr>
          <a:xfrm>
            <a:off x="838200" y="1825625"/>
            <a:ext cx="10515600" cy="1697504"/>
          </a:xfrm>
        </p:spPr>
        <p:txBody>
          <a:bodyPr/>
          <a:lstStyle/>
          <a:p>
            <a:r>
              <a:rPr lang="en-US" dirty="0"/>
              <a:t>Selected 26 fields (3 for Target Engineering) | 159,995 records</a:t>
            </a:r>
          </a:p>
          <a:p>
            <a:r>
              <a:rPr lang="en-US" dirty="0"/>
              <a:t>Data cleaning – value count method</a:t>
            </a:r>
          </a:p>
          <a:p>
            <a:r>
              <a:rPr lang="en-US" dirty="0"/>
              <a:t>Drop null values completely</a:t>
            </a:r>
          </a:p>
          <a:p>
            <a:endParaRPr lang="en-US" dirty="0"/>
          </a:p>
          <a:p>
            <a:pPr marL="0" indent="0">
              <a:buNone/>
            </a:pPr>
            <a:endParaRPr lang="en-US" dirty="0"/>
          </a:p>
        </p:txBody>
      </p:sp>
      <p:sp>
        <p:nvSpPr>
          <p:cNvPr id="4" name="Title 1">
            <a:extLst>
              <a:ext uri="{FF2B5EF4-FFF2-40B4-BE49-F238E27FC236}">
                <a16:creationId xmlns:a16="http://schemas.microsoft.com/office/drawing/2014/main" id="{3A60F5ED-EF96-0EB9-A650-335B2F0B04C6}"/>
              </a:ext>
            </a:extLst>
          </p:cNvPr>
          <p:cNvSpPr txBox="1">
            <a:spLocks/>
          </p:cNvSpPr>
          <p:nvPr/>
        </p:nvSpPr>
        <p:spPr>
          <a:xfrm>
            <a:off x="721659" y="352312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Data Split – Chronological Order</a:t>
            </a:r>
          </a:p>
        </p:txBody>
      </p:sp>
      <p:sp>
        <p:nvSpPr>
          <p:cNvPr id="5" name="Content Placeholder 2">
            <a:extLst>
              <a:ext uri="{FF2B5EF4-FFF2-40B4-BE49-F238E27FC236}">
                <a16:creationId xmlns:a16="http://schemas.microsoft.com/office/drawing/2014/main" id="{52A4C3FC-ACF4-1634-6BF0-BC7759A0A3F9}"/>
              </a:ext>
            </a:extLst>
          </p:cNvPr>
          <p:cNvSpPr txBox="1">
            <a:spLocks/>
          </p:cNvSpPr>
          <p:nvPr/>
        </p:nvSpPr>
        <p:spPr>
          <a:xfrm>
            <a:off x="838200" y="4795371"/>
            <a:ext cx="10515600" cy="16975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Train Range (1975, 1997)</a:t>
            </a:r>
          </a:p>
          <a:p>
            <a:pPr marL="0" indent="0">
              <a:buNone/>
            </a:pPr>
            <a:r>
              <a:rPr lang="en-US" dirty="0"/>
              <a:t>Validation Range (1998, 2011)</a:t>
            </a:r>
          </a:p>
          <a:p>
            <a:pPr marL="0" indent="0">
              <a:buNone/>
            </a:pPr>
            <a:r>
              <a:rPr lang="en-US" dirty="0"/>
              <a:t>Test Range (2012, 2026) </a:t>
            </a:r>
          </a:p>
          <a:p>
            <a:endParaRPr lang="en-US" dirty="0"/>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15624026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A6FF7-BC72-7663-8C83-4043FB74546F}"/>
              </a:ext>
            </a:extLst>
          </p:cNvPr>
          <p:cNvSpPr>
            <a:spLocks noGrp="1"/>
          </p:cNvSpPr>
          <p:nvPr>
            <p:ph type="title"/>
          </p:nvPr>
        </p:nvSpPr>
        <p:spPr/>
        <p:txBody>
          <a:bodyPr/>
          <a:lstStyle/>
          <a:p>
            <a:r>
              <a:rPr lang="en-US" b="1" dirty="0"/>
              <a:t>Feature Engineering</a:t>
            </a:r>
          </a:p>
        </p:txBody>
      </p:sp>
      <p:sp>
        <p:nvSpPr>
          <p:cNvPr id="3" name="Content Placeholder 2">
            <a:extLst>
              <a:ext uri="{FF2B5EF4-FFF2-40B4-BE49-F238E27FC236}">
                <a16:creationId xmlns:a16="http://schemas.microsoft.com/office/drawing/2014/main" id="{5BC6A528-E83D-6E30-0BED-0572A39D8F3D}"/>
              </a:ext>
            </a:extLst>
          </p:cNvPr>
          <p:cNvSpPr>
            <a:spLocks noGrp="1"/>
          </p:cNvSpPr>
          <p:nvPr>
            <p:ph idx="1"/>
          </p:nvPr>
        </p:nvSpPr>
        <p:spPr>
          <a:xfrm>
            <a:off x="174812" y="1690688"/>
            <a:ext cx="11819964" cy="4486275"/>
          </a:xfrm>
        </p:spPr>
        <p:txBody>
          <a:bodyPr/>
          <a:lstStyle/>
          <a:p>
            <a:pPr marL="0" indent="0">
              <a:buNone/>
            </a:pPr>
            <a:r>
              <a:rPr lang="en-US" b="1" dirty="0"/>
              <a:t>Risk Score</a:t>
            </a:r>
          </a:p>
          <a:p>
            <a:r>
              <a:rPr lang="en-US" dirty="0"/>
              <a:t>Three features: </a:t>
            </a:r>
            <a:r>
              <a:rPr lang="en-US" sz="2400" i="1" dirty="0" err="1"/>
              <a:t>totaldamagecost</a:t>
            </a:r>
            <a:r>
              <a:rPr lang="en-US" sz="2400" i="1" dirty="0"/>
              <a:t>, </a:t>
            </a:r>
            <a:r>
              <a:rPr lang="en-US" sz="2400" i="1" dirty="0" err="1"/>
              <a:t>totalpersonskilled</a:t>
            </a:r>
            <a:r>
              <a:rPr lang="en-US" sz="2400" i="1" dirty="0"/>
              <a:t>, and </a:t>
            </a:r>
            <a:r>
              <a:rPr lang="en-US" sz="2400" i="1" dirty="0" err="1"/>
              <a:t>totalpersonsinjuried</a:t>
            </a:r>
            <a:endParaRPr lang="en-US" sz="2400" i="1" dirty="0"/>
          </a:p>
          <a:p>
            <a:r>
              <a:rPr lang="en-US" sz="2400" i="1" dirty="0" err="1"/>
              <a:t>damage_ratio</a:t>
            </a:r>
            <a:r>
              <a:rPr lang="en-US" dirty="0"/>
              <a:t>: reported dollar damage / monetary threshold that year</a:t>
            </a:r>
          </a:p>
          <a:p>
            <a:r>
              <a:rPr lang="en-US" dirty="0"/>
              <a:t>PCA Method: Standardized - PC1 (loading values) - Scored </a:t>
            </a:r>
          </a:p>
        </p:txBody>
      </p:sp>
      <p:pic>
        <p:nvPicPr>
          <p:cNvPr id="8" name="Picture 7" descr="The diagram visually represents the damage ratio and casualty figures, showing a distribution of killed and injured individuals across different categories.&#10;&#10;AI-generated content may be incorrect.">
            <a:extLst>
              <a:ext uri="{FF2B5EF4-FFF2-40B4-BE49-F238E27FC236}">
                <a16:creationId xmlns:a16="http://schemas.microsoft.com/office/drawing/2014/main" id="{D2E26A63-E27F-E2CB-622B-4509AFCCCCA2}"/>
              </a:ext>
            </a:extLst>
          </p:cNvPr>
          <p:cNvPicPr>
            <a:picLocks noChangeAspect="1"/>
          </p:cNvPicPr>
          <p:nvPr/>
        </p:nvPicPr>
        <p:blipFill>
          <a:blip r:embed="rId3"/>
          <a:stretch>
            <a:fillRect/>
          </a:stretch>
        </p:blipFill>
        <p:spPr>
          <a:xfrm>
            <a:off x="7316151" y="3789261"/>
            <a:ext cx="4333579" cy="2756102"/>
          </a:xfrm>
          <a:prstGeom prst="rect">
            <a:avLst/>
          </a:prstGeom>
        </p:spPr>
      </p:pic>
      <p:pic>
        <p:nvPicPr>
          <p:cNvPr id="10" name="Picture 9" descr="The provided text appears to be a tabulated dataset listing various years, total damages, damage costs, and damage ratios.&#10;&#10;AI-generated content may be incorrect.">
            <a:extLst>
              <a:ext uri="{FF2B5EF4-FFF2-40B4-BE49-F238E27FC236}">
                <a16:creationId xmlns:a16="http://schemas.microsoft.com/office/drawing/2014/main" id="{D2893FCA-869D-E844-7635-FD1FA0787F30}"/>
              </a:ext>
            </a:extLst>
          </p:cNvPr>
          <p:cNvPicPr>
            <a:picLocks noChangeAspect="1"/>
          </p:cNvPicPr>
          <p:nvPr/>
        </p:nvPicPr>
        <p:blipFill>
          <a:blip r:embed="rId4"/>
          <a:stretch>
            <a:fillRect/>
          </a:stretch>
        </p:blipFill>
        <p:spPr>
          <a:xfrm>
            <a:off x="345142" y="4071650"/>
            <a:ext cx="6748202" cy="1898845"/>
          </a:xfrm>
          <a:prstGeom prst="rect">
            <a:avLst/>
          </a:prstGeom>
        </p:spPr>
      </p:pic>
    </p:spTree>
    <p:extLst>
      <p:ext uri="{BB962C8B-B14F-4D97-AF65-F5344CB8AC3E}">
        <p14:creationId xmlns:p14="http://schemas.microsoft.com/office/powerpoint/2010/main" val="3764547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656E8-DD91-6755-D10F-F551BD7685E5}"/>
              </a:ext>
            </a:extLst>
          </p:cNvPr>
          <p:cNvSpPr>
            <a:spLocks noGrp="1"/>
          </p:cNvSpPr>
          <p:nvPr>
            <p:ph type="title"/>
          </p:nvPr>
        </p:nvSpPr>
        <p:spPr/>
        <p:txBody>
          <a:bodyPr/>
          <a:lstStyle/>
          <a:p>
            <a:r>
              <a:rPr lang="en-US" b="1" dirty="0"/>
              <a:t>Feature Engineering – Threshold Value</a:t>
            </a:r>
            <a:endParaRPr lang="en-US" dirty="0"/>
          </a:p>
        </p:txBody>
      </p:sp>
      <p:pic>
        <p:nvPicPr>
          <p:cNvPr id="7" name="Picture 6" descr="The diagram shows a line graph depicting the fluctuating threshold values (in USD) for a certain metric over the years, with notable points at 12,000 in 1980 and 20,000 in 1990, and a peak at 19,000 in 2000, followed by a decline to 4,000 in 2020.&#10;&#10;AI-generated content may be incorrect.">
            <a:extLst>
              <a:ext uri="{FF2B5EF4-FFF2-40B4-BE49-F238E27FC236}">
                <a16:creationId xmlns:a16="http://schemas.microsoft.com/office/drawing/2014/main" id="{9706C77D-F52F-D184-9A48-D137ED19BF3B}"/>
              </a:ext>
            </a:extLst>
          </p:cNvPr>
          <p:cNvPicPr>
            <a:picLocks noChangeAspect="1"/>
          </p:cNvPicPr>
          <p:nvPr/>
        </p:nvPicPr>
        <p:blipFill>
          <a:blip r:embed="rId2"/>
          <a:stretch>
            <a:fillRect/>
          </a:stretch>
        </p:blipFill>
        <p:spPr>
          <a:xfrm>
            <a:off x="456177" y="1690688"/>
            <a:ext cx="11279646" cy="4167221"/>
          </a:xfrm>
          <a:prstGeom prst="rect">
            <a:avLst/>
          </a:prstGeom>
        </p:spPr>
      </p:pic>
    </p:spTree>
    <p:extLst>
      <p:ext uri="{BB962C8B-B14F-4D97-AF65-F5344CB8AC3E}">
        <p14:creationId xmlns:p14="http://schemas.microsoft.com/office/powerpoint/2010/main" val="29511218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3F9BB-9FC0-24FA-1F14-C3625171FDEA}"/>
              </a:ext>
            </a:extLst>
          </p:cNvPr>
          <p:cNvSpPr>
            <a:spLocks noGrp="1"/>
          </p:cNvSpPr>
          <p:nvPr>
            <p:ph type="title"/>
          </p:nvPr>
        </p:nvSpPr>
        <p:spPr/>
        <p:txBody>
          <a:bodyPr/>
          <a:lstStyle/>
          <a:p>
            <a:r>
              <a:rPr lang="en-US" b="1" dirty="0"/>
              <a:t>Feature Engineering – Yeo Johnson</a:t>
            </a:r>
            <a:endParaRPr lang="en-US" dirty="0"/>
          </a:p>
        </p:txBody>
      </p:sp>
      <p:pic>
        <p:nvPicPr>
          <p:cNvPr id="5" name="Picture 4" descr="The diagram is a probability plot comparing the distribution of a dataset against a theoretical distribution, specifically a Yeo-Johnson normalized rank transformation.&#10;&#10;AI-generated content may be incorrect.">
            <a:extLst>
              <a:ext uri="{FF2B5EF4-FFF2-40B4-BE49-F238E27FC236}">
                <a16:creationId xmlns:a16="http://schemas.microsoft.com/office/drawing/2014/main" id="{82346D6B-A7CE-6D1E-EB65-436212123601}"/>
              </a:ext>
            </a:extLst>
          </p:cNvPr>
          <p:cNvPicPr>
            <a:picLocks noChangeAspect="1"/>
          </p:cNvPicPr>
          <p:nvPr/>
        </p:nvPicPr>
        <p:blipFill>
          <a:blip r:embed="rId2"/>
          <a:stretch>
            <a:fillRect/>
          </a:stretch>
        </p:blipFill>
        <p:spPr>
          <a:xfrm>
            <a:off x="1071433" y="1435766"/>
            <a:ext cx="10282367" cy="1951113"/>
          </a:xfrm>
          <a:prstGeom prst="rect">
            <a:avLst/>
          </a:prstGeom>
        </p:spPr>
      </p:pic>
      <p:pic>
        <p:nvPicPr>
          <p:cNvPr id="11" name="Picture 10" descr="The diagram depicts a distribution of risk scores for a set of items, with a bell-shaped distribution centered around zero, indicating a normal distribution of risk.&#10;&#10;AI-generated content may be incorrect.">
            <a:extLst>
              <a:ext uri="{FF2B5EF4-FFF2-40B4-BE49-F238E27FC236}">
                <a16:creationId xmlns:a16="http://schemas.microsoft.com/office/drawing/2014/main" id="{601B184E-D5C9-E43A-CE66-670C68639FD0}"/>
              </a:ext>
            </a:extLst>
          </p:cNvPr>
          <p:cNvPicPr>
            <a:picLocks noChangeAspect="1"/>
          </p:cNvPicPr>
          <p:nvPr/>
        </p:nvPicPr>
        <p:blipFill>
          <a:blip r:embed="rId3"/>
          <a:stretch>
            <a:fillRect/>
          </a:stretch>
        </p:blipFill>
        <p:spPr>
          <a:xfrm>
            <a:off x="1963271" y="3471122"/>
            <a:ext cx="8265458" cy="3105996"/>
          </a:xfrm>
          <a:prstGeom prst="rect">
            <a:avLst/>
          </a:prstGeom>
        </p:spPr>
      </p:pic>
    </p:spTree>
    <p:extLst>
      <p:ext uri="{BB962C8B-B14F-4D97-AF65-F5344CB8AC3E}">
        <p14:creationId xmlns:p14="http://schemas.microsoft.com/office/powerpoint/2010/main" val="1919577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D8BE9-B843-B582-05AD-67E5D6058F5C}"/>
              </a:ext>
            </a:extLst>
          </p:cNvPr>
          <p:cNvSpPr>
            <a:spLocks noGrp="1"/>
          </p:cNvSpPr>
          <p:nvPr>
            <p:ph type="title"/>
          </p:nvPr>
        </p:nvSpPr>
        <p:spPr/>
        <p:txBody>
          <a:bodyPr/>
          <a:lstStyle/>
          <a:p>
            <a:r>
              <a:rPr lang="en-US" b="1" dirty="0"/>
              <a:t>Feature Engineering – Risk Category</a:t>
            </a:r>
            <a:endParaRPr lang="en-US" dirty="0"/>
          </a:p>
        </p:txBody>
      </p:sp>
      <p:pic>
        <p:nvPicPr>
          <p:cNvPr id="9" name="Picture 8" descr="The image displays a distribution graph with a range of risk scores, categorized into low and high severity, showing the number of occurrences for each score.&#10;&#10;AI-generated content may be incorrect.">
            <a:extLst>
              <a:ext uri="{FF2B5EF4-FFF2-40B4-BE49-F238E27FC236}">
                <a16:creationId xmlns:a16="http://schemas.microsoft.com/office/drawing/2014/main" id="{B15F8AFC-4D06-E97E-A105-6EF439DA3B33}"/>
              </a:ext>
            </a:extLst>
          </p:cNvPr>
          <p:cNvPicPr>
            <a:picLocks noChangeAspect="1"/>
          </p:cNvPicPr>
          <p:nvPr/>
        </p:nvPicPr>
        <p:blipFill>
          <a:blip r:embed="rId2"/>
          <a:stretch>
            <a:fillRect/>
          </a:stretch>
        </p:blipFill>
        <p:spPr>
          <a:xfrm>
            <a:off x="1134035" y="1580545"/>
            <a:ext cx="9923929" cy="3696909"/>
          </a:xfrm>
          <a:prstGeom prst="rect">
            <a:avLst/>
          </a:prstGeom>
        </p:spPr>
      </p:pic>
      <p:pic>
        <p:nvPicPr>
          <p:cNvPr id="11" name="Picture 10" descr="The image shows a list of numerical bin thresholds: -1.156, -0.443, and 2.353.&#10;&#10;AI-generated content may be incorrect.">
            <a:extLst>
              <a:ext uri="{FF2B5EF4-FFF2-40B4-BE49-F238E27FC236}">
                <a16:creationId xmlns:a16="http://schemas.microsoft.com/office/drawing/2014/main" id="{CF7208AF-94F1-2B2B-2D0C-CD05E437FFC0}"/>
              </a:ext>
            </a:extLst>
          </p:cNvPr>
          <p:cNvPicPr>
            <a:picLocks noChangeAspect="1"/>
          </p:cNvPicPr>
          <p:nvPr/>
        </p:nvPicPr>
        <p:blipFill>
          <a:blip r:embed="rId3"/>
          <a:stretch>
            <a:fillRect/>
          </a:stretch>
        </p:blipFill>
        <p:spPr>
          <a:xfrm>
            <a:off x="1858720" y="5515289"/>
            <a:ext cx="8474559" cy="789789"/>
          </a:xfrm>
          <a:prstGeom prst="rect">
            <a:avLst/>
          </a:prstGeom>
        </p:spPr>
      </p:pic>
    </p:spTree>
    <p:extLst>
      <p:ext uri="{BB962C8B-B14F-4D97-AF65-F5344CB8AC3E}">
        <p14:creationId xmlns:p14="http://schemas.microsoft.com/office/powerpoint/2010/main" val="23772400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73E3D-63D4-89AE-895A-AEAF79BA44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684720-00BF-DE45-F83E-CC273393390D}"/>
              </a:ext>
            </a:extLst>
          </p:cNvPr>
          <p:cNvSpPr>
            <a:spLocks noGrp="1"/>
          </p:cNvSpPr>
          <p:nvPr>
            <p:ph type="ctrTitle"/>
          </p:nvPr>
        </p:nvSpPr>
        <p:spPr/>
        <p:txBody>
          <a:bodyPr/>
          <a:lstStyle/>
          <a:p>
            <a:r>
              <a:rPr lang="en-US" b="1" dirty="0"/>
              <a:t>EDA</a:t>
            </a:r>
          </a:p>
        </p:txBody>
      </p:sp>
      <p:sp>
        <p:nvSpPr>
          <p:cNvPr id="3" name="Subtitle 2">
            <a:extLst>
              <a:ext uri="{FF2B5EF4-FFF2-40B4-BE49-F238E27FC236}">
                <a16:creationId xmlns:a16="http://schemas.microsoft.com/office/drawing/2014/main" id="{2CDE723D-424A-DCFA-0979-3001FD456F9D}"/>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5136645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9DE8D-8958-B03F-617E-EF022A4D3C33}"/>
              </a:ext>
            </a:extLst>
          </p:cNvPr>
          <p:cNvSpPr>
            <a:spLocks noGrp="1"/>
          </p:cNvSpPr>
          <p:nvPr>
            <p:ph type="title"/>
          </p:nvPr>
        </p:nvSpPr>
        <p:spPr/>
        <p:txBody>
          <a:bodyPr/>
          <a:lstStyle/>
          <a:p>
            <a:r>
              <a:rPr lang="en-US" b="1" dirty="0"/>
              <a:t>EDA – Reports Over Year</a:t>
            </a:r>
          </a:p>
        </p:txBody>
      </p:sp>
      <p:pic>
        <p:nvPicPr>
          <p:cNvPr id="7" name="Picture 6" descr="The image shows a bar graph depicting the number of reported accidents per year, with the years 1980, 1990, 2000, 2010, and 2020 marked, and a significant drop in accidents in 2000.&#10;&#10;AI-generated content may be incorrect.">
            <a:extLst>
              <a:ext uri="{FF2B5EF4-FFF2-40B4-BE49-F238E27FC236}">
                <a16:creationId xmlns:a16="http://schemas.microsoft.com/office/drawing/2014/main" id="{04A4E57E-4E56-0991-52D3-8A1664E42581}"/>
              </a:ext>
            </a:extLst>
          </p:cNvPr>
          <p:cNvPicPr>
            <a:picLocks noChangeAspect="1"/>
          </p:cNvPicPr>
          <p:nvPr/>
        </p:nvPicPr>
        <p:blipFill>
          <a:blip r:embed="rId2"/>
          <a:stretch>
            <a:fillRect/>
          </a:stretch>
        </p:blipFill>
        <p:spPr>
          <a:xfrm>
            <a:off x="759759" y="2104647"/>
            <a:ext cx="10672482" cy="3903760"/>
          </a:xfrm>
          <a:prstGeom prst="rect">
            <a:avLst/>
          </a:prstGeom>
        </p:spPr>
      </p:pic>
    </p:spTree>
    <p:extLst>
      <p:ext uri="{BB962C8B-B14F-4D97-AF65-F5344CB8AC3E}">
        <p14:creationId xmlns:p14="http://schemas.microsoft.com/office/powerpoint/2010/main" val="35466557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5DCD5-789B-278A-F407-6A026A038692}"/>
              </a:ext>
            </a:extLst>
          </p:cNvPr>
          <p:cNvSpPr>
            <a:spLocks noGrp="1"/>
          </p:cNvSpPr>
          <p:nvPr>
            <p:ph type="title"/>
          </p:nvPr>
        </p:nvSpPr>
        <p:spPr/>
        <p:txBody>
          <a:bodyPr/>
          <a:lstStyle/>
          <a:p>
            <a:r>
              <a:rPr lang="en-US" b="1" dirty="0"/>
              <a:t>EDA – Risk Category Split</a:t>
            </a:r>
          </a:p>
        </p:txBody>
      </p:sp>
      <p:pic>
        <p:nvPicPr>
          <p:cNvPr id="5" name="Content Placeholder 4" descr="The image illustrates a comparison of dataset splits, with a total count of 40,000 in training and 30,000 in testing, categorized by low and high severity risk levels.&#10;&#10;AI-generated content may be incorrect.">
            <a:extLst>
              <a:ext uri="{FF2B5EF4-FFF2-40B4-BE49-F238E27FC236}">
                <a16:creationId xmlns:a16="http://schemas.microsoft.com/office/drawing/2014/main" id="{7DB3E0D4-3441-08BA-26FA-90F7E6035CA0}"/>
              </a:ext>
            </a:extLst>
          </p:cNvPr>
          <p:cNvPicPr>
            <a:picLocks noGrp="1" noChangeAspect="1"/>
          </p:cNvPicPr>
          <p:nvPr>
            <p:ph idx="1"/>
          </p:nvPr>
        </p:nvPicPr>
        <p:blipFill>
          <a:blip r:embed="rId2"/>
          <a:stretch>
            <a:fillRect/>
          </a:stretch>
        </p:blipFill>
        <p:spPr>
          <a:xfrm>
            <a:off x="838200" y="2043328"/>
            <a:ext cx="10515600" cy="3915932"/>
          </a:xfrm>
          <a:prstGeom prst="rect">
            <a:avLst/>
          </a:prstGeom>
        </p:spPr>
      </p:pic>
    </p:spTree>
    <p:extLst>
      <p:ext uri="{BB962C8B-B14F-4D97-AF65-F5344CB8AC3E}">
        <p14:creationId xmlns:p14="http://schemas.microsoft.com/office/powerpoint/2010/main" val="22218751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63B63-0C7A-3903-DAD2-0A1DF8E7571B}"/>
              </a:ext>
            </a:extLst>
          </p:cNvPr>
          <p:cNvSpPr>
            <a:spLocks noGrp="1"/>
          </p:cNvSpPr>
          <p:nvPr>
            <p:ph type="title"/>
          </p:nvPr>
        </p:nvSpPr>
        <p:spPr/>
        <p:txBody>
          <a:bodyPr/>
          <a:lstStyle/>
          <a:p>
            <a:r>
              <a:rPr lang="en-US" dirty="0"/>
              <a:t>EDA – Correlation/ Cardinality/ Connection</a:t>
            </a:r>
          </a:p>
        </p:txBody>
      </p:sp>
      <p:pic>
        <p:nvPicPr>
          <p:cNvPr id="5" name="Picture 4" descr="The image appears to be a scatter plot or heatmap, displaying various data points or values across different categories or variables such as accident year, accident month, temperature, and different types of duties like engineersonduty and conductorsonduty.&#10;&#10;AI-generated content may be incorrect.">
            <a:extLst>
              <a:ext uri="{FF2B5EF4-FFF2-40B4-BE49-F238E27FC236}">
                <a16:creationId xmlns:a16="http://schemas.microsoft.com/office/drawing/2014/main" id="{2136C4E4-7401-3056-FCB8-DF9261436BCF}"/>
              </a:ext>
            </a:extLst>
          </p:cNvPr>
          <p:cNvPicPr>
            <a:picLocks noChangeAspect="1"/>
          </p:cNvPicPr>
          <p:nvPr/>
        </p:nvPicPr>
        <p:blipFill>
          <a:blip r:embed="rId2"/>
          <a:stretch>
            <a:fillRect/>
          </a:stretch>
        </p:blipFill>
        <p:spPr>
          <a:xfrm>
            <a:off x="260500" y="1690688"/>
            <a:ext cx="11671000" cy="4410854"/>
          </a:xfrm>
          <a:prstGeom prst="rect">
            <a:avLst/>
          </a:prstGeom>
        </p:spPr>
      </p:pic>
    </p:spTree>
    <p:extLst>
      <p:ext uri="{BB962C8B-B14F-4D97-AF65-F5344CB8AC3E}">
        <p14:creationId xmlns:p14="http://schemas.microsoft.com/office/powerpoint/2010/main" val="19551030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B2930-A76F-84E3-A117-68E556BD27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0616D7-AD14-3EA2-5B12-8528F27A7ABA}"/>
              </a:ext>
            </a:extLst>
          </p:cNvPr>
          <p:cNvSpPr>
            <a:spLocks noGrp="1"/>
          </p:cNvSpPr>
          <p:nvPr>
            <p:ph type="title"/>
          </p:nvPr>
        </p:nvSpPr>
        <p:spPr/>
        <p:txBody>
          <a:bodyPr/>
          <a:lstStyle/>
          <a:p>
            <a:r>
              <a:rPr lang="en-US" dirty="0"/>
              <a:t>EDA – Correlation/ Cardinality/ Connection</a:t>
            </a:r>
          </a:p>
        </p:txBody>
      </p:sp>
      <p:pic>
        <p:nvPicPr>
          <p:cNvPr id="4" name="Picture 3" descr="The image displays a structured data table with various categories of railway accident statistics, including types of accidents, state abbreviations, district numbers, visibility codes, equipment types, weather conditions, track types, passenger transportation, and train directions, along with their corresponding numerical values.&#10;&#10;AI-generated content may be incorrect.">
            <a:extLst>
              <a:ext uri="{FF2B5EF4-FFF2-40B4-BE49-F238E27FC236}">
                <a16:creationId xmlns:a16="http://schemas.microsoft.com/office/drawing/2014/main" id="{24D2D9B6-A14F-F46E-C4E7-DFBC69C8A00C}"/>
              </a:ext>
            </a:extLst>
          </p:cNvPr>
          <p:cNvPicPr>
            <a:picLocks noChangeAspect="1"/>
          </p:cNvPicPr>
          <p:nvPr/>
        </p:nvPicPr>
        <p:blipFill>
          <a:blip r:embed="rId2"/>
          <a:stretch>
            <a:fillRect/>
          </a:stretch>
        </p:blipFill>
        <p:spPr>
          <a:xfrm>
            <a:off x="1052865" y="2063962"/>
            <a:ext cx="5043135" cy="3705661"/>
          </a:xfrm>
          <a:prstGeom prst="rect">
            <a:avLst/>
          </a:prstGeom>
        </p:spPr>
      </p:pic>
      <p:pic>
        <p:nvPicPr>
          <p:cNvPr id="7" name="Picture 6" descr="The image displays a data table with various types of railroad accidents and their associated risk scores.&#10;&#10;AI-generated content may be incorrect.">
            <a:extLst>
              <a:ext uri="{FF2B5EF4-FFF2-40B4-BE49-F238E27FC236}">
                <a16:creationId xmlns:a16="http://schemas.microsoft.com/office/drawing/2014/main" id="{DA324CFC-16AC-19BB-DDA9-F022D8B2BC30}"/>
              </a:ext>
            </a:extLst>
          </p:cNvPr>
          <p:cNvPicPr>
            <a:picLocks noChangeAspect="1"/>
          </p:cNvPicPr>
          <p:nvPr/>
        </p:nvPicPr>
        <p:blipFill>
          <a:blip r:embed="rId3"/>
          <a:stretch>
            <a:fillRect/>
          </a:stretch>
        </p:blipFill>
        <p:spPr>
          <a:xfrm>
            <a:off x="6716080" y="1690688"/>
            <a:ext cx="4637720" cy="4452210"/>
          </a:xfrm>
          <a:prstGeom prst="rect">
            <a:avLst/>
          </a:prstGeom>
        </p:spPr>
      </p:pic>
    </p:spTree>
    <p:extLst>
      <p:ext uri="{BB962C8B-B14F-4D97-AF65-F5344CB8AC3E}">
        <p14:creationId xmlns:p14="http://schemas.microsoft.com/office/powerpoint/2010/main" val="22579766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E711C-9DB5-FAF6-06E6-71474D53082F}"/>
              </a:ext>
            </a:extLst>
          </p:cNvPr>
          <p:cNvSpPr>
            <a:spLocks noGrp="1"/>
          </p:cNvSpPr>
          <p:nvPr>
            <p:ph type="title"/>
          </p:nvPr>
        </p:nvSpPr>
        <p:spPr/>
        <p:txBody>
          <a:bodyPr/>
          <a:lstStyle/>
          <a:p>
            <a:r>
              <a:rPr lang="en-US" b="1" dirty="0"/>
              <a:t>Data Preparation</a:t>
            </a:r>
          </a:p>
        </p:txBody>
      </p:sp>
      <p:sp>
        <p:nvSpPr>
          <p:cNvPr id="3" name="Content Placeholder 2">
            <a:extLst>
              <a:ext uri="{FF2B5EF4-FFF2-40B4-BE49-F238E27FC236}">
                <a16:creationId xmlns:a16="http://schemas.microsoft.com/office/drawing/2014/main" id="{DBD1500A-684A-1043-0028-789047A60CEB}"/>
              </a:ext>
            </a:extLst>
          </p:cNvPr>
          <p:cNvSpPr>
            <a:spLocks noGrp="1"/>
          </p:cNvSpPr>
          <p:nvPr>
            <p:ph idx="1"/>
          </p:nvPr>
        </p:nvSpPr>
        <p:spPr>
          <a:xfrm>
            <a:off x="838200" y="1825625"/>
            <a:ext cx="10515600" cy="3178637"/>
          </a:xfrm>
        </p:spPr>
        <p:txBody>
          <a:bodyPr/>
          <a:lstStyle/>
          <a:p>
            <a:r>
              <a:rPr lang="en-US" dirty="0"/>
              <a:t>Dropped all features used of target engineering</a:t>
            </a:r>
          </a:p>
          <a:p>
            <a:r>
              <a:rPr lang="en-US" dirty="0"/>
              <a:t>Categorical Variables: </a:t>
            </a:r>
            <a:r>
              <a:rPr lang="en-US" dirty="0" err="1"/>
              <a:t>OneHotEncoder</a:t>
            </a:r>
            <a:endParaRPr lang="en-US" dirty="0"/>
          </a:p>
          <a:p>
            <a:r>
              <a:rPr lang="en-US" dirty="0"/>
              <a:t>Numerical (excluding month): </a:t>
            </a:r>
            <a:r>
              <a:rPr lang="en-US" dirty="0" err="1"/>
              <a:t>StandardScaler</a:t>
            </a:r>
            <a:endParaRPr lang="en-US" dirty="0"/>
          </a:p>
          <a:p>
            <a:r>
              <a:rPr lang="en-US" dirty="0"/>
              <a:t>Month: Sin and Cos</a:t>
            </a:r>
          </a:p>
          <a:p>
            <a:pPr marL="0" indent="0">
              <a:buNone/>
            </a:pPr>
            <a:endParaRPr lang="en-US" dirty="0"/>
          </a:p>
          <a:p>
            <a:pPr marL="0" indent="0">
              <a:buNone/>
            </a:pPr>
            <a:r>
              <a:rPr lang="en-US" dirty="0"/>
              <a:t>Final Feature Count: 121</a:t>
            </a:r>
          </a:p>
        </p:txBody>
      </p:sp>
    </p:spTree>
    <p:extLst>
      <p:ext uri="{BB962C8B-B14F-4D97-AF65-F5344CB8AC3E}">
        <p14:creationId xmlns:p14="http://schemas.microsoft.com/office/powerpoint/2010/main" val="40762025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BAF6A-AF31-0080-0E40-4CD1E32BEC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2CE33C-A141-9FB8-15D1-912B119DA8D7}"/>
              </a:ext>
            </a:extLst>
          </p:cNvPr>
          <p:cNvSpPr>
            <a:spLocks noGrp="1"/>
          </p:cNvSpPr>
          <p:nvPr>
            <p:ph type="ctrTitle"/>
          </p:nvPr>
        </p:nvSpPr>
        <p:spPr/>
        <p:txBody>
          <a:bodyPr/>
          <a:lstStyle/>
          <a:p>
            <a:r>
              <a:rPr lang="en-US" b="1" dirty="0"/>
              <a:t>Methodology</a:t>
            </a:r>
          </a:p>
        </p:txBody>
      </p:sp>
    </p:spTree>
    <p:extLst>
      <p:ext uri="{BB962C8B-B14F-4D97-AF65-F5344CB8AC3E}">
        <p14:creationId xmlns:p14="http://schemas.microsoft.com/office/powerpoint/2010/main" val="998057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E78A7-C5FE-B84D-9F89-1661AE37A79B}"/>
              </a:ext>
            </a:extLst>
          </p:cNvPr>
          <p:cNvSpPr>
            <a:spLocks noGrp="1"/>
          </p:cNvSpPr>
          <p:nvPr>
            <p:ph type="title"/>
          </p:nvPr>
        </p:nvSpPr>
        <p:spPr/>
        <p:txBody>
          <a:bodyPr/>
          <a:lstStyle/>
          <a:p>
            <a:r>
              <a:rPr lang="en-US" b="1" dirty="0"/>
              <a:t>Model Explored</a:t>
            </a:r>
          </a:p>
        </p:txBody>
      </p:sp>
      <p:sp>
        <p:nvSpPr>
          <p:cNvPr id="3" name="Content Placeholder 2">
            <a:extLst>
              <a:ext uri="{FF2B5EF4-FFF2-40B4-BE49-F238E27FC236}">
                <a16:creationId xmlns:a16="http://schemas.microsoft.com/office/drawing/2014/main" id="{C29B4215-15F9-044F-4FD3-60F9C9EF8686}"/>
              </a:ext>
            </a:extLst>
          </p:cNvPr>
          <p:cNvSpPr>
            <a:spLocks noGrp="1"/>
          </p:cNvSpPr>
          <p:nvPr>
            <p:ph idx="1"/>
          </p:nvPr>
        </p:nvSpPr>
        <p:spPr>
          <a:xfrm>
            <a:off x="838200" y="1582304"/>
            <a:ext cx="10515600" cy="2164484"/>
          </a:xfrm>
        </p:spPr>
        <p:txBody>
          <a:bodyPr/>
          <a:lstStyle/>
          <a:p>
            <a:r>
              <a:rPr lang="en-US" dirty="0"/>
              <a:t>Linear Regression</a:t>
            </a:r>
          </a:p>
          <a:p>
            <a:r>
              <a:rPr lang="en-US" dirty="0"/>
              <a:t>KNN </a:t>
            </a:r>
          </a:p>
          <a:p>
            <a:r>
              <a:rPr lang="en-US" dirty="0" err="1"/>
              <a:t>XGBoost</a:t>
            </a:r>
            <a:r>
              <a:rPr lang="en-US" dirty="0"/>
              <a:t> Regressor</a:t>
            </a:r>
          </a:p>
          <a:p>
            <a:r>
              <a:rPr lang="en-US" dirty="0" err="1"/>
              <a:t>XGBoost</a:t>
            </a:r>
            <a:r>
              <a:rPr lang="en-US" dirty="0"/>
              <a:t> Classifier</a:t>
            </a:r>
          </a:p>
        </p:txBody>
      </p:sp>
      <p:sp>
        <p:nvSpPr>
          <p:cNvPr id="4" name="Content Placeholder 2">
            <a:extLst>
              <a:ext uri="{FF2B5EF4-FFF2-40B4-BE49-F238E27FC236}">
                <a16:creationId xmlns:a16="http://schemas.microsoft.com/office/drawing/2014/main" id="{BC1711F1-7DB0-5DCA-CD66-B2EA7E36D337}"/>
              </a:ext>
            </a:extLst>
          </p:cNvPr>
          <p:cNvSpPr txBox="1">
            <a:spLocks/>
          </p:cNvSpPr>
          <p:nvPr/>
        </p:nvSpPr>
        <p:spPr>
          <a:xfrm>
            <a:off x="838200" y="4029017"/>
            <a:ext cx="8586216" cy="21644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Tuned via </a:t>
            </a:r>
            <a:r>
              <a:rPr lang="en-US" dirty="0" err="1"/>
              <a:t>GridSearch</a:t>
            </a:r>
            <a:endParaRPr lang="en-US" dirty="0"/>
          </a:p>
          <a:p>
            <a:r>
              <a:rPr lang="en-US" dirty="0" err="1"/>
              <a:t>TimeSeriesSplit</a:t>
            </a:r>
            <a:r>
              <a:rPr lang="en-US" dirty="0"/>
              <a:t>: 5-folds</a:t>
            </a:r>
          </a:p>
          <a:p>
            <a:r>
              <a:rPr lang="en-US" dirty="0"/>
              <a:t>Regression Scoring: “</a:t>
            </a:r>
            <a:r>
              <a:rPr lang="en-US" dirty="0" err="1"/>
              <a:t>neg_root_mean_squared_error</a:t>
            </a:r>
            <a:r>
              <a:rPr lang="en-US" dirty="0"/>
              <a:t>”</a:t>
            </a:r>
          </a:p>
          <a:p>
            <a:r>
              <a:rPr lang="en-US" dirty="0"/>
              <a:t>Classification Scoring: “f1_macro” </a:t>
            </a:r>
          </a:p>
        </p:txBody>
      </p:sp>
    </p:spTree>
    <p:extLst>
      <p:ext uri="{BB962C8B-B14F-4D97-AF65-F5344CB8AC3E}">
        <p14:creationId xmlns:p14="http://schemas.microsoft.com/office/powerpoint/2010/main" val="41350836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5105C-5C53-EE21-B9CE-442464D66B6B}"/>
              </a:ext>
            </a:extLst>
          </p:cNvPr>
          <p:cNvSpPr>
            <a:spLocks noGrp="1"/>
          </p:cNvSpPr>
          <p:nvPr>
            <p:ph type="title"/>
          </p:nvPr>
        </p:nvSpPr>
        <p:spPr/>
        <p:txBody>
          <a:bodyPr/>
          <a:lstStyle/>
          <a:p>
            <a:r>
              <a:rPr lang="en-US" b="1" dirty="0"/>
              <a:t>Model Results</a:t>
            </a:r>
          </a:p>
        </p:txBody>
      </p:sp>
      <p:pic>
        <p:nvPicPr>
          <p:cNvPr id="5" name="Picture 4" descr="The image displays a table comparing various regression models, showing their RMSE (Root Mean Square Error) and R-squared values, indicating their performance.&#10;&#10;AI-generated content may be incorrect.">
            <a:extLst>
              <a:ext uri="{FF2B5EF4-FFF2-40B4-BE49-F238E27FC236}">
                <a16:creationId xmlns:a16="http://schemas.microsoft.com/office/drawing/2014/main" id="{8DA792C4-07F1-0EA0-4015-581E4BAB586D}"/>
              </a:ext>
            </a:extLst>
          </p:cNvPr>
          <p:cNvPicPr>
            <a:picLocks noChangeAspect="1"/>
          </p:cNvPicPr>
          <p:nvPr/>
        </p:nvPicPr>
        <p:blipFill>
          <a:blip r:embed="rId2"/>
          <a:stretch>
            <a:fillRect/>
          </a:stretch>
        </p:blipFill>
        <p:spPr>
          <a:xfrm>
            <a:off x="5392602" y="1690688"/>
            <a:ext cx="5961198" cy="2646991"/>
          </a:xfrm>
          <a:prstGeom prst="rect">
            <a:avLst/>
          </a:prstGeom>
        </p:spPr>
      </p:pic>
      <p:pic>
        <p:nvPicPr>
          <p:cNvPr id="7" name="Picture 6" descr="The image displays a comparison of various machine learning models, including KNN, XGBoost, and others, with their respective accuracy, recall, and F1-scores for different severity levels of security threats.&#10;&#10;AI-generated content may be incorrect.">
            <a:extLst>
              <a:ext uri="{FF2B5EF4-FFF2-40B4-BE49-F238E27FC236}">
                <a16:creationId xmlns:a16="http://schemas.microsoft.com/office/drawing/2014/main" id="{FFDDDF81-CE3C-7704-06A6-63F97C403423}"/>
              </a:ext>
            </a:extLst>
          </p:cNvPr>
          <p:cNvPicPr>
            <a:picLocks noChangeAspect="1"/>
          </p:cNvPicPr>
          <p:nvPr/>
        </p:nvPicPr>
        <p:blipFill>
          <a:blip r:embed="rId3"/>
          <a:stretch>
            <a:fillRect/>
          </a:stretch>
        </p:blipFill>
        <p:spPr>
          <a:xfrm>
            <a:off x="635224" y="4607810"/>
            <a:ext cx="10921551" cy="1993057"/>
          </a:xfrm>
          <a:prstGeom prst="rect">
            <a:avLst/>
          </a:prstGeom>
        </p:spPr>
      </p:pic>
      <p:sp>
        <p:nvSpPr>
          <p:cNvPr id="8" name="TextBox 7">
            <a:extLst>
              <a:ext uri="{FF2B5EF4-FFF2-40B4-BE49-F238E27FC236}">
                <a16:creationId xmlns:a16="http://schemas.microsoft.com/office/drawing/2014/main" id="{B62FE777-0106-3BBA-9484-9754F02C63EE}"/>
              </a:ext>
            </a:extLst>
          </p:cNvPr>
          <p:cNvSpPr txBox="1"/>
          <p:nvPr/>
        </p:nvSpPr>
        <p:spPr>
          <a:xfrm>
            <a:off x="7501135" y="1229023"/>
            <a:ext cx="1744132" cy="461665"/>
          </a:xfrm>
          <a:prstGeom prst="rect">
            <a:avLst/>
          </a:prstGeom>
          <a:noFill/>
        </p:spPr>
        <p:txBody>
          <a:bodyPr wrap="none" rtlCol="0">
            <a:spAutoFit/>
          </a:bodyPr>
          <a:lstStyle/>
          <a:p>
            <a:r>
              <a:rPr lang="en-US" sz="2400" b="1" dirty="0"/>
              <a:t>Regression</a:t>
            </a:r>
          </a:p>
        </p:txBody>
      </p:sp>
      <p:sp>
        <p:nvSpPr>
          <p:cNvPr id="10" name="TextBox 9">
            <a:extLst>
              <a:ext uri="{FF2B5EF4-FFF2-40B4-BE49-F238E27FC236}">
                <a16:creationId xmlns:a16="http://schemas.microsoft.com/office/drawing/2014/main" id="{8E0B507D-BCEC-E738-B4C9-E4F2DF5BF6D7}"/>
              </a:ext>
            </a:extLst>
          </p:cNvPr>
          <p:cNvSpPr txBox="1"/>
          <p:nvPr/>
        </p:nvSpPr>
        <p:spPr>
          <a:xfrm>
            <a:off x="1678070" y="4011079"/>
            <a:ext cx="2188741" cy="461665"/>
          </a:xfrm>
          <a:prstGeom prst="rect">
            <a:avLst/>
          </a:prstGeom>
          <a:noFill/>
        </p:spPr>
        <p:txBody>
          <a:bodyPr wrap="none" rtlCol="0">
            <a:spAutoFit/>
          </a:bodyPr>
          <a:lstStyle/>
          <a:p>
            <a:r>
              <a:rPr lang="en-US" sz="2400" b="1" dirty="0"/>
              <a:t>Classification</a:t>
            </a:r>
          </a:p>
        </p:txBody>
      </p:sp>
      <p:sp>
        <p:nvSpPr>
          <p:cNvPr id="11" name="TextBox 10">
            <a:extLst>
              <a:ext uri="{FF2B5EF4-FFF2-40B4-BE49-F238E27FC236}">
                <a16:creationId xmlns:a16="http://schemas.microsoft.com/office/drawing/2014/main" id="{F9F49ED1-CAFE-F2D4-C08E-D5DB6BC40287}"/>
              </a:ext>
            </a:extLst>
          </p:cNvPr>
          <p:cNvSpPr txBox="1"/>
          <p:nvPr/>
        </p:nvSpPr>
        <p:spPr>
          <a:xfrm>
            <a:off x="413639" y="1960819"/>
            <a:ext cx="4717602" cy="1200329"/>
          </a:xfrm>
          <a:prstGeom prst="rect">
            <a:avLst/>
          </a:prstGeom>
          <a:noFill/>
        </p:spPr>
        <p:txBody>
          <a:bodyPr wrap="square" rtlCol="0">
            <a:spAutoFit/>
          </a:bodyPr>
          <a:lstStyle/>
          <a:p>
            <a:pPr algn="ctr"/>
            <a:r>
              <a:rPr lang="en-US" sz="2400" i="1" dirty="0" err="1"/>
              <a:t>XGBoost</a:t>
            </a:r>
            <a:r>
              <a:rPr lang="en-US" sz="2400" i="1" dirty="0"/>
              <a:t> versions were selected as the final version for model evaluation and testing.</a:t>
            </a:r>
          </a:p>
        </p:txBody>
      </p:sp>
    </p:spTree>
    <p:extLst>
      <p:ext uri="{BB962C8B-B14F-4D97-AF65-F5344CB8AC3E}">
        <p14:creationId xmlns:p14="http://schemas.microsoft.com/office/powerpoint/2010/main" val="18512713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3B0B6-C1C4-C88D-68E1-B3C58A9D5A14}"/>
              </a:ext>
            </a:extLst>
          </p:cNvPr>
          <p:cNvSpPr>
            <a:spLocks noGrp="1"/>
          </p:cNvSpPr>
          <p:nvPr>
            <p:ph type="title"/>
          </p:nvPr>
        </p:nvSpPr>
        <p:spPr/>
        <p:txBody>
          <a:bodyPr/>
          <a:lstStyle/>
          <a:p>
            <a:r>
              <a:rPr lang="en-US" b="1" dirty="0" err="1"/>
              <a:t>XGBoost</a:t>
            </a:r>
            <a:r>
              <a:rPr lang="en-US" b="1" dirty="0"/>
              <a:t> Regressor and Classifier</a:t>
            </a:r>
          </a:p>
        </p:txBody>
      </p:sp>
      <p:sp>
        <p:nvSpPr>
          <p:cNvPr id="3" name="Content Placeholder 2">
            <a:extLst>
              <a:ext uri="{FF2B5EF4-FFF2-40B4-BE49-F238E27FC236}">
                <a16:creationId xmlns:a16="http://schemas.microsoft.com/office/drawing/2014/main" id="{2213A827-B064-6D99-5298-21CEBFB6DD5C}"/>
              </a:ext>
            </a:extLst>
          </p:cNvPr>
          <p:cNvSpPr>
            <a:spLocks noGrp="1"/>
          </p:cNvSpPr>
          <p:nvPr>
            <p:ph idx="1"/>
          </p:nvPr>
        </p:nvSpPr>
        <p:spPr>
          <a:xfrm>
            <a:off x="223058" y="1602452"/>
            <a:ext cx="5612476" cy="3617940"/>
          </a:xfrm>
        </p:spPr>
        <p:txBody>
          <a:bodyPr/>
          <a:lstStyle/>
          <a:p>
            <a:pPr marL="0" indent="0">
              <a:buNone/>
            </a:pPr>
            <a:r>
              <a:rPr lang="en-US" b="1" dirty="0"/>
              <a:t>Model’s In-Practice:</a:t>
            </a:r>
          </a:p>
          <a:p>
            <a:pPr marL="514350" indent="-514350">
              <a:buAutoNum type="arabicParenR"/>
            </a:pPr>
            <a:r>
              <a:rPr lang="en-US" dirty="0"/>
              <a:t>Begins with baseline prediction</a:t>
            </a:r>
          </a:p>
          <a:p>
            <a:pPr marL="514350" indent="-514350">
              <a:buAutoNum type="arabicParenR"/>
            </a:pPr>
            <a:r>
              <a:rPr lang="en-US" dirty="0"/>
              <a:t>Computer residuals/ gradients</a:t>
            </a:r>
          </a:p>
          <a:p>
            <a:pPr marL="514350" indent="-514350">
              <a:buAutoNum type="arabicParenR"/>
            </a:pPr>
            <a:r>
              <a:rPr lang="en-US" dirty="0"/>
              <a:t>Fit trees to the residuals</a:t>
            </a:r>
          </a:p>
          <a:p>
            <a:pPr marL="514350" indent="-514350">
              <a:buAutoNum type="arabicParenR"/>
            </a:pPr>
            <a:r>
              <a:rPr lang="en-US" dirty="0"/>
              <a:t>Scaled by set learning rate</a:t>
            </a:r>
          </a:p>
          <a:p>
            <a:pPr marL="514350" indent="-514350">
              <a:buAutoNum type="arabicParenR"/>
            </a:pPr>
            <a:r>
              <a:rPr lang="en-US" dirty="0"/>
              <a:t>Repeats</a:t>
            </a:r>
          </a:p>
        </p:txBody>
      </p:sp>
      <p:sp>
        <p:nvSpPr>
          <p:cNvPr id="4" name="Content Placeholder 2">
            <a:extLst>
              <a:ext uri="{FF2B5EF4-FFF2-40B4-BE49-F238E27FC236}">
                <a16:creationId xmlns:a16="http://schemas.microsoft.com/office/drawing/2014/main" id="{0D906D57-2542-34BA-1245-2B676ABEAAFA}"/>
              </a:ext>
            </a:extLst>
          </p:cNvPr>
          <p:cNvSpPr txBox="1">
            <a:spLocks/>
          </p:cNvSpPr>
          <p:nvPr/>
        </p:nvSpPr>
        <p:spPr>
          <a:xfrm>
            <a:off x="6096000" y="1602451"/>
            <a:ext cx="5612476" cy="36179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Model’s Parameters:</a:t>
            </a:r>
          </a:p>
          <a:p>
            <a:r>
              <a:rPr lang="en-US" dirty="0"/>
              <a:t>Random State: 42</a:t>
            </a:r>
          </a:p>
          <a:p>
            <a:r>
              <a:rPr lang="en-US" dirty="0"/>
              <a:t>Col Sample By Tree: 0.7</a:t>
            </a:r>
          </a:p>
          <a:p>
            <a:r>
              <a:rPr lang="en-US" dirty="0"/>
              <a:t>Sum Sample: 0.7</a:t>
            </a:r>
          </a:p>
          <a:p>
            <a:r>
              <a:rPr lang="en-US" dirty="0"/>
              <a:t>Learning Rate: 0.01</a:t>
            </a:r>
          </a:p>
          <a:p>
            <a:r>
              <a:rPr lang="en-US" dirty="0"/>
              <a:t>Max Depth: 7</a:t>
            </a:r>
          </a:p>
          <a:p>
            <a:r>
              <a:rPr lang="en-US" dirty="0"/>
              <a:t>N Estimators: 700</a:t>
            </a:r>
          </a:p>
          <a:p>
            <a:endParaRPr lang="en-US" dirty="0"/>
          </a:p>
        </p:txBody>
      </p:sp>
      <p:sp>
        <p:nvSpPr>
          <p:cNvPr id="6" name="Content Placeholder 2">
            <a:extLst>
              <a:ext uri="{FF2B5EF4-FFF2-40B4-BE49-F238E27FC236}">
                <a16:creationId xmlns:a16="http://schemas.microsoft.com/office/drawing/2014/main" id="{83AFFEAF-2308-8A41-DB13-7BC8634A9F00}"/>
              </a:ext>
            </a:extLst>
          </p:cNvPr>
          <p:cNvSpPr txBox="1">
            <a:spLocks/>
          </p:cNvSpPr>
          <p:nvPr/>
        </p:nvSpPr>
        <p:spPr>
          <a:xfrm>
            <a:off x="222365" y="5606589"/>
            <a:ext cx="11747269" cy="59470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Model’s Objective: “</a:t>
            </a:r>
            <a:r>
              <a:rPr lang="en-US" b="1" dirty="0" err="1"/>
              <a:t>Reg:SquaredError</a:t>
            </a:r>
            <a:r>
              <a:rPr lang="en-US" b="1" dirty="0"/>
              <a:t>” or “</a:t>
            </a:r>
            <a:r>
              <a:rPr lang="en-US" b="1" dirty="0" err="1"/>
              <a:t>Binary:Logistic</a:t>
            </a:r>
            <a:r>
              <a:rPr lang="en-US" b="1" dirty="0"/>
              <a:t>”</a:t>
            </a:r>
          </a:p>
        </p:txBody>
      </p:sp>
    </p:spTree>
    <p:extLst>
      <p:ext uri="{BB962C8B-B14F-4D97-AF65-F5344CB8AC3E}">
        <p14:creationId xmlns:p14="http://schemas.microsoft.com/office/powerpoint/2010/main" val="23219664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59726-89FF-EF0E-445E-4F601CB86350}"/>
              </a:ext>
            </a:extLst>
          </p:cNvPr>
          <p:cNvSpPr>
            <a:spLocks noGrp="1"/>
          </p:cNvSpPr>
          <p:nvPr>
            <p:ph type="title"/>
          </p:nvPr>
        </p:nvSpPr>
        <p:spPr/>
        <p:txBody>
          <a:bodyPr/>
          <a:lstStyle/>
          <a:p>
            <a:r>
              <a:rPr lang="en-US" b="1" dirty="0"/>
              <a:t>Model Learning Rate</a:t>
            </a:r>
          </a:p>
        </p:txBody>
      </p:sp>
      <p:pic>
        <p:nvPicPr>
          <p:cNvPr id="5" name="Picture 4" descr="The diagram illustrates an XGBoost regression learning curve, showing the model's training and validation Root Mean Square Error (RMSE) values decreasing as the number of training samples increases, indicating improved model performance with more data.&#10;&#10;AI-generated content may be incorrect.">
            <a:extLst>
              <a:ext uri="{FF2B5EF4-FFF2-40B4-BE49-F238E27FC236}">
                <a16:creationId xmlns:a16="http://schemas.microsoft.com/office/drawing/2014/main" id="{1E1AD070-61CA-4636-903F-E40CF21C37B6}"/>
              </a:ext>
            </a:extLst>
          </p:cNvPr>
          <p:cNvPicPr>
            <a:picLocks noChangeAspect="1"/>
          </p:cNvPicPr>
          <p:nvPr/>
        </p:nvPicPr>
        <p:blipFill>
          <a:blip r:embed="rId2"/>
          <a:stretch>
            <a:fillRect/>
          </a:stretch>
        </p:blipFill>
        <p:spPr>
          <a:xfrm>
            <a:off x="0" y="1690688"/>
            <a:ext cx="5849693" cy="4233489"/>
          </a:xfrm>
          <a:prstGeom prst="rect">
            <a:avLst/>
          </a:prstGeom>
        </p:spPr>
      </p:pic>
      <p:pic>
        <p:nvPicPr>
          <p:cNvPr id="7" name="Picture 6" descr="The diagram depicts an XGBoost classification learning curve, showing decreasing F1 scores as the number of training samples increases, indicating potential overfitting.&#10;&#10;AI-generated content may be incorrect.">
            <a:extLst>
              <a:ext uri="{FF2B5EF4-FFF2-40B4-BE49-F238E27FC236}">
                <a16:creationId xmlns:a16="http://schemas.microsoft.com/office/drawing/2014/main" id="{22DB3CDA-F314-B5D9-9819-BC64726498F9}"/>
              </a:ext>
            </a:extLst>
          </p:cNvPr>
          <p:cNvPicPr>
            <a:picLocks noChangeAspect="1"/>
          </p:cNvPicPr>
          <p:nvPr/>
        </p:nvPicPr>
        <p:blipFill>
          <a:blip r:embed="rId3"/>
          <a:stretch>
            <a:fillRect/>
          </a:stretch>
        </p:blipFill>
        <p:spPr>
          <a:xfrm>
            <a:off x="6254277" y="1690689"/>
            <a:ext cx="5937723" cy="4233488"/>
          </a:xfrm>
          <a:prstGeom prst="rect">
            <a:avLst/>
          </a:prstGeom>
        </p:spPr>
      </p:pic>
    </p:spTree>
    <p:extLst>
      <p:ext uri="{BB962C8B-B14F-4D97-AF65-F5344CB8AC3E}">
        <p14:creationId xmlns:p14="http://schemas.microsoft.com/office/powerpoint/2010/main" val="40704752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A80C2-837F-417E-9972-108D18FEE198}"/>
              </a:ext>
            </a:extLst>
          </p:cNvPr>
          <p:cNvSpPr>
            <a:spLocks noGrp="1"/>
          </p:cNvSpPr>
          <p:nvPr>
            <p:ph type="title"/>
          </p:nvPr>
        </p:nvSpPr>
        <p:spPr/>
        <p:txBody>
          <a:bodyPr/>
          <a:lstStyle/>
          <a:p>
            <a:r>
              <a:rPr lang="en-US" b="1" dirty="0"/>
              <a:t>Model Performance</a:t>
            </a:r>
          </a:p>
        </p:txBody>
      </p:sp>
      <p:pic>
        <p:nvPicPr>
          <p:cNvPr id="5" name="Picture 4" descr="The image is a box plot or violin plot showing the distribution of data points, with a true label of 11482 and a predicted label of 9594, and the data ranges from 0 to 11000.&#10;&#10;AI-generated content may be incorrect.">
            <a:extLst>
              <a:ext uri="{FF2B5EF4-FFF2-40B4-BE49-F238E27FC236}">
                <a16:creationId xmlns:a16="http://schemas.microsoft.com/office/drawing/2014/main" id="{7254EDBD-7671-4E89-4815-F508606CF495}"/>
              </a:ext>
            </a:extLst>
          </p:cNvPr>
          <p:cNvPicPr>
            <a:picLocks noChangeAspect="1"/>
          </p:cNvPicPr>
          <p:nvPr/>
        </p:nvPicPr>
        <p:blipFill>
          <a:blip r:embed="rId2"/>
          <a:stretch>
            <a:fillRect/>
          </a:stretch>
        </p:blipFill>
        <p:spPr>
          <a:xfrm>
            <a:off x="6096000" y="1493023"/>
            <a:ext cx="5521804" cy="4458890"/>
          </a:xfrm>
          <a:prstGeom prst="rect">
            <a:avLst/>
          </a:prstGeom>
        </p:spPr>
      </p:pic>
      <p:pic>
        <p:nvPicPr>
          <p:cNvPr id="7" name="Picture 6" descr="The diagram is a scatter plot comparing actual values against predicted values, with XGBoost regression results showing a linear trend.&#10;&#10;AI-generated content may be incorrect.">
            <a:extLst>
              <a:ext uri="{FF2B5EF4-FFF2-40B4-BE49-F238E27FC236}">
                <a16:creationId xmlns:a16="http://schemas.microsoft.com/office/drawing/2014/main" id="{17C09201-A9F8-2B23-00AD-3857ED6E9FAB}"/>
              </a:ext>
            </a:extLst>
          </p:cNvPr>
          <p:cNvPicPr>
            <a:picLocks noChangeAspect="1"/>
          </p:cNvPicPr>
          <p:nvPr/>
        </p:nvPicPr>
        <p:blipFill>
          <a:blip r:embed="rId3"/>
          <a:stretch>
            <a:fillRect/>
          </a:stretch>
        </p:blipFill>
        <p:spPr>
          <a:xfrm>
            <a:off x="238669" y="1493023"/>
            <a:ext cx="5719449" cy="4139622"/>
          </a:xfrm>
          <a:prstGeom prst="rect">
            <a:avLst/>
          </a:prstGeom>
        </p:spPr>
      </p:pic>
    </p:spTree>
    <p:extLst>
      <p:ext uri="{BB962C8B-B14F-4D97-AF65-F5344CB8AC3E}">
        <p14:creationId xmlns:p14="http://schemas.microsoft.com/office/powerpoint/2010/main" val="18389540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36392-A05B-7459-DE44-0DF9BCAA56E3}"/>
              </a:ext>
            </a:extLst>
          </p:cNvPr>
          <p:cNvSpPr>
            <a:spLocks noGrp="1"/>
          </p:cNvSpPr>
          <p:nvPr>
            <p:ph type="title"/>
          </p:nvPr>
        </p:nvSpPr>
        <p:spPr/>
        <p:txBody>
          <a:bodyPr/>
          <a:lstStyle/>
          <a:p>
            <a:r>
              <a:rPr lang="en-US" b="1" dirty="0"/>
              <a:t>Model Feature Importance</a:t>
            </a:r>
          </a:p>
        </p:txBody>
      </p:sp>
      <p:pic>
        <p:nvPicPr>
          <p:cNvPr id="5" name="Picture 4" descr="The image is a bar chart displaying the relative importance of different factors in predicting accidents using XGBoost Regression, with track types and accident types as variables.&#10;&#10;AI-generated content may be incorrect.">
            <a:extLst>
              <a:ext uri="{FF2B5EF4-FFF2-40B4-BE49-F238E27FC236}">
                <a16:creationId xmlns:a16="http://schemas.microsoft.com/office/drawing/2014/main" id="{0F0B752A-C463-36BE-234C-3AD4A9A68962}"/>
              </a:ext>
            </a:extLst>
          </p:cNvPr>
          <p:cNvPicPr>
            <a:picLocks noChangeAspect="1"/>
          </p:cNvPicPr>
          <p:nvPr/>
        </p:nvPicPr>
        <p:blipFill>
          <a:blip r:embed="rId2"/>
          <a:stretch>
            <a:fillRect/>
          </a:stretch>
        </p:blipFill>
        <p:spPr>
          <a:xfrm>
            <a:off x="243310" y="2197923"/>
            <a:ext cx="5413778" cy="3017515"/>
          </a:xfrm>
          <a:prstGeom prst="rect">
            <a:avLst/>
          </a:prstGeom>
        </p:spPr>
      </p:pic>
      <p:pic>
        <p:nvPicPr>
          <p:cNvPr id="7" name="Picture 6" descr="The image is a bar chart showing the importance of different features in an XGBoost Classifier model, with track types and accident types as variables.&#10;&#10;AI-generated content may be incorrect.">
            <a:extLst>
              <a:ext uri="{FF2B5EF4-FFF2-40B4-BE49-F238E27FC236}">
                <a16:creationId xmlns:a16="http://schemas.microsoft.com/office/drawing/2014/main" id="{DDFD19DD-8E25-3A1F-72A5-94D5A699385B}"/>
              </a:ext>
            </a:extLst>
          </p:cNvPr>
          <p:cNvPicPr>
            <a:picLocks noChangeAspect="1"/>
          </p:cNvPicPr>
          <p:nvPr/>
        </p:nvPicPr>
        <p:blipFill>
          <a:blip r:embed="rId3"/>
          <a:stretch>
            <a:fillRect/>
          </a:stretch>
        </p:blipFill>
        <p:spPr>
          <a:xfrm>
            <a:off x="6282419" y="2197923"/>
            <a:ext cx="5413778" cy="2976908"/>
          </a:xfrm>
          <a:prstGeom prst="rect">
            <a:avLst/>
          </a:prstGeom>
        </p:spPr>
      </p:pic>
    </p:spTree>
    <p:extLst>
      <p:ext uri="{BB962C8B-B14F-4D97-AF65-F5344CB8AC3E}">
        <p14:creationId xmlns:p14="http://schemas.microsoft.com/office/powerpoint/2010/main" val="11374115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C6B22-7EEA-0862-8CE6-A18C406958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ED7BED-5357-E64A-A041-E508CFFE0D2D}"/>
              </a:ext>
            </a:extLst>
          </p:cNvPr>
          <p:cNvSpPr>
            <a:spLocks noGrp="1"/>
          </p:cNvSpPr>
          <p:nvPr>
            <p:ph type="ctrTitle"/>
          </p:nvPr>
        </p:nvSpPr>
        <p:spPr/>
        <p:txBody>
          <a:bodyPr/>
          <a:lstStyle/>
          <a:p>
            <a:r>
              <a:rPr lang="en-US" b="1" dirty="0"/>
              <a:t>Evaluation</a:t>
            </a:r>
          </a:p>
        </p:txBody>
      </p:sp>
    </p:spTree>
    <p:extLst>
      <p:ext uri="{BB962C8B-B14F-4D97-AF65-F5344CB8AC3E}">
        <p14:creationId xmlns:p14="http://schemas.microsoft.com/office/powerpoint/2010/main" val="13226999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3A34B-5C35-013E-23BE-551BB7DAF379}"/>
              </a:ext>
            </a:extLst>
          </p:cNvPr>
          <p:cNvSpPr>
            <a:spLocks noGrp="1"/>
          </p:cNvSpPr>
          <p:nvPr>
            <p:ph type="title"/>
          </p:nvPr>
        </p:nvSpPr>
        <p:spPr/>
        <p:txBody>
          <a:bodyPr/>
          <a:lstStyle/>
          <a:p>
            <a:r>
              <a:rPr lang="en-US" b="1" dirty="0"/>
              <a:t>Naïve Models</a:t>
            </a:r>
          </a:p>
        </p:txBody>
      </p:sp>
      <p:sp>
        <p:nvSpPr>
          <p:cNvPr id="3" name="Content Placeholder 2">
            <a:extLst>
              <a:ext uri="{FF2B5EF4-FFF2-40B4-BE49-F238E27FC236}">
                <a16:creationId xmlns:a16="http://schemas.microsoft.com/office/drawing/2014/main" id="{C877C665-1390-09B2-339E-ACC144205DB4}"/>
              </a:ext>
            </a:extLst>
          </p:cNvPr>
          <p:cNvSpPr>
            <a:spLocks noGrp="1"/>
          </p:cNvSpPr>
          <p:nvPr>
            <p:ph idx="1"/>
          </p:nvPr>
        </p:nvSpPr>
        <p:spPr>
          <a:xfrm>
            <a:off x="838200" y="1431791"/>
            <a:ext cx="10515600" cy="1185799"/>
          </a:xfrm>
        </p:spPr>
        <p:txBody>
          <a:bodyPr/>
          <a:lstStyle/>
          <a:p>
            <a:r>
              <a:rPr lang="en-US" dirty="0" err="1"/>
              <a:t>DummyRegressor</a:t>
            </a:r>
            <a:r>
              <a:rPr lang="en-US" dirty="0"/>
              <a:t> (Strategy: Mean) </a:t>
            </a:r>
          </a:p>
          <a:p>
            <a:r>
              <a:rPr lang="en-US" dirty="0" err="1"/>
              <a:t>DummyClassifier</a:t>
            </a:r>
            <a:r>
              <a:rPr lang="en-US" dirty="0"/>
              <a:t> (Strategy: Stratified)</a:t>
            </a:r>
          </a:p>
        </p:txBody>
      </p:sp>
      <p:sp>
        <p:nvSpPr>
          <p:cNvPr id="17" name="Title 1">
            <a:extLst>
              <a:ext uri="{FF2B5EF4-FFF2-40B4-BE49-F238E27FC236}">
                <a16:creationId xmlns:a16="http://schemas.microsoft.com/office/drawing/2014/main" id="{F24CCD26-5880-A507-F5BA-EE4B268A75B9}"/>
              </a:ext>
            </a:extLst>
          </p:cNvPr>
          <p:cNvSpPr txBox="1">
            <a:spLocks/>
          </p:cNvSpPr>
          <p:nvPr/>
        </p:nvSpPr>
        <p:spPr>
          <a:xfrm>
            <a:off x="838200" y="250482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Cross-Validation</a:t>
            </a:r>
          </a:p>
        </p:txBody>
      </p:sp>
      <p:pic>
        <p:nvPicPr>
          <p:cNvPr id="19" name="Picture 18" descr="The image displays a comparison of R-squared scores, showing XGBoost Regression has an average R2 of 0.287 with a small error margin, while Dummy Baseline has a negative average R2 of -0.002 with a negligible error.&#10;&#10;AI-generated content may be incorrect.">
            <a:extLst>
              <a:ext uri="{FF2B5EF4-FFF2-40B4-BE49-F238E27FC236}">
                <a16:creationId xmlns:a16="http://schemas.microsoft.com/office/drawing/2014/main" id="{9D886169-2941-115F-9F28-87D5E62AEB36}"/>
              </a:ext>
            </a:extLst>
          </p:cNvPr>
          <p:cNvPicPr>
            <a:picLocks noChangeAspect="1"/>
          </p:cNvPicPr>
          <p:nvPr/>
        </p:nvPicPr>
        <p:blipFill>
          <a:blip r:embed="rId2"/>
          <a:stretch>
            <a:fillRect/>
          </a:stretch>
        </p:blipFill>
        <p:spPr>
          <a:xfrm>
            <a:off x="1436182" y="3830384"/>
            <a:ext cx="7076857" cy="1123310"/>
          </a:xfrm>
          <a:prstGeom prst="rect">
            <a:avLst/>
          </a:prstGeom>
        </p:spPr>
      </p:pic>
      <p:pic>
        <p:nvPicPr>
          <p:cNvPr id="21" name="Picture 20" descr="The image displays a comparison of F1 macro score metrics, highlighting XGBoost's score of 0.675 and a dummy baseline score of 0.503.&#10;&#10;AI-generated content may be incorrect.">
            <a:extLst>
              <a:ext uri="{FF2B5EF4-FFF2-40B4-BE49-F238E27FC236}">
                <a16:creationId xmlns:a16="http://schemas.microsoft.com/office/drawing/2014/main" id="{0464FEEA-35AE-62B0-4A26-6E032A1F4AB2}"/>
              </a:ext>
            </a:extLst>
          </p:cNvPr>
          <p:cNvPicPr>
            <a:picLocks noChangeAspect="1"/>
          </p:cNvPicPr>
          <p:nvPr/>
        </p:nvPicPr>
        <p:blipFill>
          <a:blip r:embed="rId3"/>
          <a:stretch>
            <a:fillRect/>
          </a:stretch>
        </p:blipFill>
        <p:spPr>
          <a:xfrm>
            <a:off x="1436182" y="5426209"/>
            <a:ext cx="7550448" cy="938015"/>
          </a:xfrm>
          <a:prstGeom prst="rect">
            <a:avLst/>
          </a:prstGeom>
        </p:spPr>
      </p:pic>
      <p:sp>
        <p:nvSpPr>
          <p:cNvPr id="23" name="TextBox 22">
            <a:extLst>
              <a:ext uri="{FF2B5EF4-FFF2-40B4-BE49-F238E27FC236}">
                <a16:creationId xmlns:a16="http://schemas.microsoft.com/office/drawing/2014/main" id="{0049E384-D5BC-FAA3-59B5-0DFA124B9DF6}"/>
              </a:ext>
            </a:extLst>
          </p:cNvPr>
          <p:cNvSpPr txBox="1"/>
          <p:nvPr/>
        </p:nvSpPr>
        <p:spPr>
          <a:xfrm>
            <a:off x="838200" y="3368719"/>
            <a:ext cx="1744132" cy="461665"/>
          </a:xfrm>
          <a:prstGeom prst="rect">
            <a:avLst/>
          </a:prstGeom>
          <a:noFill/>
        </p:spPr>
        <p:txBody>
          <a:bodyPr wrap="none" rtlCol="0">
            <a:spAutoFit/>
          </a:bodyPr>
          <a:lstStyle/>
          <a:p>
            <a:r>
              <a:rPr lang="en-US" sz="2400" b="1" dirty="0"/>
              <a:t>Regression</a:t>
            </a:r>
          </a:p>
        </p:txBody>
      </p:sp>
      <p:sp>
        <p:nvSpPr>
          <p:cNvPr id="25" name="TextBox 24">
            <a:extLst>
              <a:ext uri="{FF2B5EF4-FFF2-40B4-BE49-F238E27FC236}">
                <a16:creationId xmlns:a16="http://schemas.microsoft.com/office/drawing/2014/main" id="{0CC0A7D1-8E02-6704-4B97-7B2163DA0BBD}"/>
              </a:ext>
            </a:extLst>
          </p:cNvPr>
          <p:cNvSpPr txBox="1"/>
          <p:nvPr/>
        </p:nvSpPr>
        <p:spPr>
          <a:xfrm>
            <a:off x="838200" y="4953694"/>
            <a:ext cx="2126223" cy="461665"/>
          </a:xfrm>
          <a:prstGeom prst="rect">
            <a:avLst/>
          </a:prstGeom>
          <a:noFill/>
        </p:spPr>
        <p:txBody>
          <a:bodyPr wrap="none" rtlCol="0">
            <a:spAutoFit/>
          </a:bodyPr>
          <a:lstStyle/>
          <a:p>
            <a:r>
              <a:rPr lang="en-US" sz="2400" b="1" dirty="0"/>
              <a:t>Classification</a:t>
            </a:r>
          </a:p>
        </p:txBody>
      </p:sp>
    </p:spTree>
    <p:extLst>
      <p:ext uri="{BB962C8B-B14F-4D97-AF65-F5344CB8AC3E}">
        <p14:creationId xmlns:p14="http://schemas.microsoft.com/office/powerpoint/2010/main" val="5710991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image displays a statistical output of a paired t-test, indicating a significant difference in R-squared values (R2) with a t-statistic of 26.256 and a p-value of 0.0000125, leading to the conclusion to reject the null hypothesis at an alpha level of 0.05.&#10;&#10;AI-generated content may be incorrect.">
            <a:extLst>
              <a:ext uri="{FF2B5EF4-FFF2-40B4-BE49-F238E27FC236}">
                <a16:creationId xmlns:a16="http://schemas.microsoft.com/office/drawing/2014/main" id="{F47F2B2B-2B2A-020E-EBE9-E5849F11AEF0}"/>
              </a:ext>
            </a:extLst>
          </p:cNvPr>
          <p:cNvPicPr>
            <a:picLocks noChangeAspect="1"/>
          </p:cNvPicPr>
          <p:nvPr/>
        </p:nvPicPr>
        <p:blipFill>
          <a:blip r:embed="rId2"/>
          <a:stretch>
            <a:fillRect/>
          </a:stretch>
        </p:blipFill>
        <p:spPr>
          <a:xfrm>
            <a:off x="734018" y="1937853"/>
            <a:ext cx="6363251" cy="1196444"/>
          </a:xfrm>
          <a:prstGeom prst="rect">
            <a:avLst/>
          </a:prstGeom>
        </p:spPr>
      </p:pic>
      <p:sp>
        <p:nvSpPr>
          <p:cNvPr id="7" name="TextBox 6">
            <a:extLst>
              <a:ext uri="{FF2B5EF4-FFF2-40B4-BE49-F238E27FC236}">
                <a16:creationId xmlns:a16="http://schemas.microsoft.com/office/drawing/2014/main" id="{A6B141FE-027C-971E-B4B4-B0CEECF1D9E2}"/>
              </a:ext>
            </a:extLst>
          </p:cNvPr>
          <p:cNvSpPr txBox="1"/>
          <p:nvPr/>
        </p:nvSpPr>
        <p:spPr>
          <a:xfrm>
            <a:off x="1781703" y="1476188"/>
            <a:ext cx="1744132" cy="461665"/>
          </a:xfrm>
          <a:prstGeom prst="rect">
            <a:avLst/>
          </a:prstGeom>
          <a:noFill/>
        </p:spPr>
        <p:txBody>
          <a:bodyPr wrap="none" rtlCol="0">
            <a:spAutoFit/>
          </a:bodyPr>
          <a:lstStyle/>
          <a:p>
            <a:r>
              <a:rPr lang="en-US" sz="2400" b="1" dirty="0"/>
              <a:t>Regression</a:t>
            </a:r>
          </a:p>
        </p:txBody>
      </p:sp>
      <p:sp>
        <p:nvSpPr>
          <p:cNvPr id="9" name="TextBox 8">
            <a:extLst>
              <a:ext uri="{FF2B5EF4-FFF2-40B4-BE49-F238E27FC236}">
                <a16:creationId xmlns:a16="http://schemas.microsoft.com/office/drawing/2014/main" id="{3AED9D03-51A8-A2B1-0078-49B09B642242}"/>
              </a:ext>
            </a:extLst>
          </p:cNvPr>
          <p:cNvSpPr txBox="1"/>
          <p:nvPr/>
        </p:nvSpPr>
        <p:spPr>
          <a:xfrm>
            <a:off x="1590657" y="3173744"/>
            <a:ext cx="2126223" cy="461665"/>
          </a:xfrm>
          <a:prstGeom prst="rect">
            <a:avLst/>
          </a:prstGeom>
          <a:noFill/>
        </p:spPr>
        <p:txBody>
          <a:bodyPr wrap="none" rtlCol="0">
            <a:spAutoFit/>
          </a:bodyPr>
          <a:lstStyle/>
          <a:p>
            <a:r>
              <a:rPr lang="en-US" sz="2400" b="1" dirty="0"/>
              <a:t>Classification</a:t>
            </a:r>
          </a:p>
        </p:txBody>
      </p:sp>
      <p:pic>
        <p:nvPicPr>
          <p:cNvPr id="11" name="Picture 10" descr="The image displays a statistical confidence interval, showing that the R-squared difference has a 95% confidence interval ranging from 0.270 to 0.308, with a mean difference of 0.290, and it is not contained within zero.&#10;&#10;AI-generated content may be incorrect.">
            <a:extLst>
              <a:ext uri="{FF2B5EF4-FFF2-40B4-BE49-F238E27FC236}">
                <a16:creationId xmlns:a16="http://schemas.microsoft.com/office/drawing/2014/main" id="{46D6C637-4670-90CF-2788-2F6EFD4C142B}"/>
              </a:ext>
            </a:extLst>
          </p:cNvPr>
          <p:cNvPicPr>
            <a:picLocks noChangeAspect="1"/>
          </p:cNvPicPr>
          <p:nvPr/>
        </p:nvPicPr>
        <p:blipFill>
          <a:blip r:embed="rId3"/>
          <a:stretch>
            <a:fillRect/>
          </a:stretch>
        </p:blipFill>
        <p:spPr>
          <a:xfrm>
            <a:off x="7741608" y="1898406"/>
            <a:ext cx="3642676" cy="876376"/>
          </a:xfrm>
          <a:prstGeom prst="rect">
            <a:avLst/>
          </a:prstGeom>
        </p:spPr>
      </p:pic>
      <p:pic>
        <p:nvPicPr>
          <p:cNvPr id="13" name="Picture 12" descr="The image displays a statistical output indicating the 95% confidence interval for the difference in F1 macro scores, with a mean difference of 0.173 and a confidence interval ranging from 0.167 to 0.178, indicating that the interval does not contain zero.&#10;&#10;AI-generated content may be incorrect.">
            <a:extLst>
              <a:ext uri="{FF2B5EF4-FFF2-40B4-BE49-F238E27FC236}">
                <a16:creationId xmlns:a16="http://schemas.microsoft.com/office/drawing/2014/main" id="{8549D845-625C-CD61-9624-EB7B0487A9C9}"/>
              </a:ext>
            </a:extLst>
          </p:cNvPr>
          <p:cNvPicPr>
            <a:picLocks noChangeAspect="1"/>
          </p:cNvPicPr>
          <p:nvPr/>
        </p:nvPicPr>
        <p:blipFill>
          <a:blip r:embed="rId4"/>
          <a:stretch>
            <a:fillRect/>
          </a:stretch>
        </p:blipFill>
        <p:spPr>
          <a:xfrm>
            <a:off x="7741608" y="3260669"/>
            <a:ext cx="3543607" cy="838273"/>
          </a:xfrm>
          <a:prstGeom prst="rect">
            <a:avLst/>
          </a:prstGeom>
        </p:spPr>
      </p:pic>
      <p:pic>
        <p:nvPicPr>
          <p:cNvPr id="15" name="Picture 14" descr="The image displays the results of a paired t-test for macro F1 scores, indicating a statistically significant difference.&#10;&#10;AI-generated content may be incorrect.">
            <a:extLst>
              <a:ext uri="{FF2B5EF4-FFF2-40B4-BE49-F238E27FC236}">
                <a16:creationId xmlns:a16="http://schemas.microsoft.com/office/drawing/2014/main" id="{D77F8F08-6476-B571-3561-9FF1CE2017C5}"/>
              </a:ext>
            </a:extLst>
          </p:cNvPr>
          <p:cNvPicPr>
            <a:picLocks noChangeAspect="1"/>
          </p:cNvPicPr>
          <p:nvPr/>
        </p:nvPicPr>
        <p:blipFill>
          <a:blip r:embed="rId5"/>
          <a:stretch>
            <a:fillRect/>
          </a:stretch>
        </p:blipFill>
        <p:spPr>
          <a:xfrm>
            <a:off x="734018" y="3679806"/>
            <a:ext cx="6302286" cy="1280271"/>
          </a:xfrm>
          <a:prstGeom prst="rect">
            <a:avLst/>
          </a:prstGeom>
        </p:spPr>
      </p:pic>
      <p:sp>
        <p:nvSpPr>
          <p:cNvPr id="19" name="Title 1">
            <a:extLst>
              <a:ext uri="{FF2B5EF4-FFF2-40B4-BE49-F238E27FC236}">
                <a16:creationId xmlns:a16="http://schemas.microsoft.com/office/drawing/2014/main" id="{2BFD018C-3784-9FD1-B245-AF95E1241591}"/>
              </a:ext>
            </a:extLst>
          </p:cNvPr>
          <p:cNvSpPr txBox="1">
            <a:spLocks/>
          </p:cNvSpPr>
          <p:nvPr/>
        </p:nvSpPr>
        <p:spPr>
          <a:xfrm>
            <a:off x="807716" y="150625"/>
            <a:ext cx="1138428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Paired t-test                           Bootstrap Resampling</a:t>
            </a:r>
          </a:p>
        </p:txBody>
      </p:sp>
    </p:spTree>
    <p:extLst>
      <p:ext uri="{BB962C8B-B14F-4D97-AF65-F5344CB8AC3E}">
        <p14:creationId xmlns:p14="http://schemas.microsoft.com/office/powerpoint/2010/main" val="30375458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4A171-3B54-8BD3-84B6-B4E5237BC701}"/>
              </a:ext>
            </a:extLst>
          </p:cNvPr>
          <p:cNvSpPr>
            <a:spLocks noGrp="1"/>
          </p:cNvSpPr>
          <p:nvPr>
            <p:ph type="title"/>
          </p:nvPr>
        </p:nvSpPr>
        <p:spPr/>
        <p:txBody>
          <a:bodyPr/>
          <a:lstStyle/>
          <a:p>
            <a:r>
              <a:rPr lang="en-US" b="1" dirty="0"/>
              <a:t>Regression Evaluation</a:t>
            </a:r>
          </a:p>
        </p:txBody>
      </p:sp>
      <p:pic>
        <p:nvPicPr>
          <p:cNvPr id="5" name="Picture 4" descr="The diagram illustrates the comparison of cross-validation RMSE (Root Mean Square Error) and R-squared scores for an XGBoost regression model against a dummy baseline, showing the model's performance metrics.&#10;&#10;AI-generated content may be incorrect.">
            <a:extLst>
              <a:ext uri="{FF2B5EF4-FFF2-40B4-BE49-F238E27FC236}">
                <a16:creationId xmlns:a16="http://schemas.microsoft.com/office/drawing/2014/main" id="{060B8EDB-4B5E-6041-EF54-EBFC2CE33E83}"/>
              </a:ext>
            </a:extLst>
          </p:cNvPr>
          <p:cNvPicPr>
            <a:picLocks noChangeAspect="1"/>
          </p:cNvPicPr>
          <p:nvPr/>
        </p:nvPicPr>
        <p:blipFill>
          <a:blip r:embed="rId2"/>
          <a:stretch>
            <a:fillRect/>
          </a:stretch>
        </p:blipFill>
        <p:spPr>
          <a:xfrm>
            <a:off x="0" y="1494658"/>
            <a:ext cx="12192000" cy="3868684"/>
          </a:xfrm>
          <a:prstGeom prst="rect">
            <a:avLst/>
          </a:prstGeom>
        </p:spPr>
      </p:pic>
    </p:spTree>
    <p:extLst>
      <p:ext uri="{BB962C8B-B14F-4D97-AF65-F5344CB8AC3E}">
        <p14:creationId xmlns:p14="http://schemas.microsoft.com/office/powerpoint/2010/main" val="22174628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3AF44-1A68-C862-6BB1-7E3B6B64CCA8}"/>
              </a:ext>
            </a:extLst>
          </p:cNvPr>
          <p:cNvSpPr>
            <a:spLocks noGrp="1"/>
          </p:cNvSpPr>
          <p:nvPr>
            <p:ph type="title"/>
          </p:nvPr>
        </p:nvSpPr>
        <p:spPr/>
        <p:txBody>
          <a:bodyPr/>
          <a:lstStyle/>
          <a:p>
            <a:r>
              <a:rPr lang="en-US" b="1" dirty="0"/>
              <a:t>Classification Evaluation</a:t>
            </a:r>
          </a:p>
        </p:txBody>
      </p:sp>
      <p:pic>
        <p:nvPicPr>
          <p:cNvPr id="5" name="Picture 4" descr="The image depicts a graph illustrating the F1 Macro Scores from a cross-validation process, showing the distribution and confidence intervals for a model's performance improvement over a dummy baseline.&#10;&#10;AI-generated content may be incorrect.">
            <a:extLst>
              <a:ext uri="{FF2B5EF4-FFF2-40B4-BE49-F238E27FC236}">
                <a16:creationId xmlns:a16="http://schemas.microsoft.com/office/drawing/2014/main" id="{DB74F74A-9907-7425-D88C-D788A22C88CE}"/>
              </a:ext>
            </a:extLst>
          </p:cNvPr>
          <p:cNvPicPr>
            <a:picLocks noChangeAspect="1"/>
          </p:cNvPicPr>
          <p:nvPr/>
        </p:nvPicPr>
        <p:blipFill>
          <a:blip r:embed="rId2"/>
          <a:stretch>
            <a:fillRect/>
          </a:stretch>
        </p:blipFill>
        <p:spPr>
          <a:xfrm>
            <a:off x="0" y="1792537"/>
            <a:ext cx="12192000" cy="3272925"/>
          </a:xfrm>
          <a:prstGeom prst="rect">
            <a:avLst/>
          </a:prstGeom>
        </p:spPr>
      </p:pic>
    </p:spTree>
    <p:extLst>
      <p:ext uri="{BB962C8B-B14F-4D97-AF65-F5344CB8AC3E}">
        <p14:creationId xmlns:p14="http://schemas.microsoft.com/office/powerpoint/2010/main" val="33929493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8DF88-FB05-AAD6-ACA6-5F095FA082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3FF104-1466-2A0E-C9E8-23B0B1CCD863}"/>
              </a:ext>
            </a:extLst>
          </p:cNvPr>
          <p:cNvSpPr>
            <a:spLocks noGrp="1"/>
          </p:cNvSpPr>
          <p:nvPr>
            <p:ph type="ctrTitle"/>
          </p:nvPr>
        </p:nvSpPr>
        <p:spPr/>
        <p:txBody>
          <a:bodyPr/>
          <a:lstStyle/>
          <a:p>
            <a:r>
              <a:rPr lang="en-US" b="1" dirty="0"/>
              <a:t>Conclusion</a:t>
            </a:r>
          </a:p>
        </p:txBody>
      </p:sp>
    </p:spTree>
    <p:extLst>
      <p:ext uri="{BB962C8B-B14F-4D97-AF65-F5344CB8AC3E}">
        <p14:creationId xmlns:p14="http://schemas.microsoft.com/office/powerpoint/2010/main" val="26783782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0005A-8B8A-1E30-FC70-7B0BCF5E5267}"/>
              </a:ext>
            </a:extLst>
          </p:cNvPr>
          <p:cNvSpPr>
            <a:spLocks noGrp="1"/>
          </p:cNvSpPr>
          <p:nvPr>
            <p:ph type="title"/>
          </p:nvPr>
        </p:nvSpPr>
        <p:spPr/>
        <p:txBody>
          <a:bodyPr/>
          <a:lstStyle/>
          <a:p>
            <a:r>
              <a:rPr lang="en-US" b="1" dirty="0"/>
              <a:t>Interpretation</a:t>
            </a:r>
          </a:p>
        </p:txBody>
      </p:sp>
      <p:sp>
        <p:nvSpPr>
          <p:cNvPr id="3" name="Content Placeholder 2">
            <a:extLst>
              <a:ext uri="{FF2B5EF4-FFF2-40B4-BE49-F238E27FC236}">
                <a16:creationId xmlns:a16="http://schemas.microsoft.com/office/drawing/2014/main" id="{EF8EEB82-A3D3-2841-590A-7B063B72D922}"/>
              </a:ext>
            </a:extLst>
          </p:cNvPr>
          <p:cNvSpPr>
            <a:spLocks noGrp="1"/>
          </p:cNvSpPr>
          <p:nvPr>
            <p:ph idx="1"/>
          </p:nvPr>
        </p:nvSpPr>
        <p:spPr>
          <a:xfrm>
            <a:off x="838200" y="1520825"/>
            <a:ext cx="10515600" cy="1051687"/>
          </a:xfrm>
        </p:spPr>
        <p:txBody>
          <a:bodyPr/>
          <a:lstStyle/>
          <a:p>
            <a:r>
              <a:rPr lang="en-US" dirty="0"/>
              <a:t>Both models beat their baseline by a statistical margin.</a:t>
            </a:r>
          </a:p>
          <a:p>
            <a:r>
              <a:rPr lang="en-US" dirty="0"/>
              <a:t>Pre-incident conditions do carry a real predictive signal.</a:t>
            </a:r>
          </a:p>
        </p:txBody>
      </p:sp>
      <p:sp>
        <p:nvSpPr>
          <p:cNvPr id="4" name="Title 1">
            <a:extLst>
              <a:ext uri="{FF2B5EF4-FFF2-40B4-BE49-F238E27FC236}">
                <a16:creationId xmlns:a16="http://schemas.microsoft.com/office/drawing/2014/main" id="{C13436CB-0A2D-E5BF-62A9-2CE295706A86}"/>
              </a:ext>
            </a:extLst>
          </p:cNvPr>
          <p:cNvSpPr txBox="1">
            <a:spLocks/>
          </p:cNvSpPr>
          <p:nvPr/>
        </p:nvSpPr>
        <p:spPr>
          <a:xfrm>
            <a:off x="838200" y="240264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Society Impact</a:t>
            </a:r>
          </a:p>
        </p:txBody>
      </p:sp>
      <p:sp>
        <p:nvSpPr>
          <p:cNvPr id="5" name="Content Placeholder 2">
            <a:extLst>
              <a:ext uri="{FF2B5EF4-FFF2-40B4-BE49-F238E27FC236}">
                <a16:creationId xmlns:a16="http://schemas.microsoft.com/office/drawing/2014/main" id="{3F91165D-E7BF-48B2-E49E-D9325D91E5EA}"/>
              </a:ext>
            </a:extLst>
          </p:cNvPr>
          <p:cNvSpPr txBox="1">
            <a:spLocks/>
          </p:cNvSpPr>
          <p:nvPr/>
        </p:nvSpPr>
        <p:spPr>
          <a:xfrm>
            <a:off x="838200" y="3550793"/>
            <a:ext cx="10515600" cy="294208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 decision-support tool for railroad companies’ internal risk management team. </a:t>
            </a:r>
            <a:r>
              <a:rPr lang="en-US" b="1" i="1" dirty="0">
                <a:solidFill>
                  <a:srgbClr val="FF0000"/>
                </a:solidFill>
              </a:rPr>
              <a:t>NOT</a:t>
            </a:r>
            <a:r>
              <a:rPr lang="en-US" dirty="0"/>
              <a:t> a final decision-maker.</a:t>
            </a:r>
          </a:p>
          <a:p>
            <a:r>
              <a:rPr lang="en-US" dirty="0"/>
              <a:t>R-squared indicate signal is present, but there is still unexplained variance.</a:t>
            </a:r>
          </a:p>
          <a:p>
            <a:r>
              <a:rPr lang="en-US" dirty="0"/>
              <a:t>Classification captured more then 50% of High Severity cases, but missed 43%.</a:t>
            </a:r>
          </a:p>
          <a:p>
            <a:endParaRPr lang="en-US" dirty="0"/>
          </a:p>
          <a:p>
            <a:endParaRPr lang="en-US" dirty="0"/>
          </a:p>
        </p:txBody>
      </p:sp>
    </p:spTree>
    <p:extLst>
      <p:ext uri="{BB962C8B-B14F-4D97-AF65-F5344CB8AC3E}">
        <p14:creationId xmlns:p14="http://schemas.microsoft.com/office/powerpoint/2010/main" val="18983324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F9C7C-B08B-6EA0-90A1-8FD78F4E1EA3}"/>
              </a:ext>
            </a:extLst>
          </p:cNvPr>
          <p:cNvSpPr>
            <a:spLocks noGrp="1"/>
          </p:cNvSpPr>
          <p:nvPr>
            <p:ph type="title"/>
          </p:nvPr>
        </p:nvSpPr>
        <p:spPr/>
        <p:txBody>
          <a:bodyPr/>
          <a:lstStyle/>
          <a:p>
            <a:r>
              <a:rPr lang="en-US" b="1" dirty="0"/>
              <a:t>Biases</a:t>
            </a:r>
          </a:p>
        </p:txBody>
      </p:sp>
      <p:sp>
        <p:nvSpPr>
          <p:cNvPr id="3" name="Content Placeholder 2">
            <a:extLst>
              <a:ext uri="{FF2B5EF4-FFF2-40B4-BE49-F238E27FC236}">
                <a16:creationId xmlns:a16="http://schemas.microsoft.com/office/drawing/2014/main" id="{403F0B1B-B6D2-3C9C-CCB5-DA9E85766C57}"/>
              </a:ext>
            </a:extLst>
          </p:cNvPr>
          <p:cNvSpPr>
            <a:spLocks noGrp="1"/>
          </p:cNvSpPr>
          <p:nvPr>
            <p:ph idx="1"/>
          </p:nvPr>
        </p:nvSpPr>
        <p:spPr>
          <a:xfrm>
            <a:off x="838200" y="1825625"/>
            <a:ext cx="10515600" cy="1197991"/>
          </a:xfrm>
        </p:spPr>
        <p:txBody>
          <a:bodyPr/>
          <a:lstStyle/>
          <a:p>
            <a:r>
              <a:rPr lang="en-US" dirty="0"/>
              <a:t>High Severity Bias: Considered rare and unpredictable. </a:t>
            </a:r>
          </a:p>
          <a:p>
            <a:r>
              <a:rPr lang="en-US" dirty="0"/>
              <a:t>Time-based Bias: Patterns have shifted over time.</a:t>
            </a:r>
          </a:p>
        </p:txBody>
      </p:sp>
      <p:sp>
        <p:nvSpPr>
          <p:cNvPr id="4" name="Title 1">
            <a:extLst>
              <a:ext uri="{FF2B5EF4-FFF2-40B4-BE49-F238E27FC236}">
                <a16:creationId xmlns:a16="http://schemas.microsoft.com/office/drawing/2014/main" id="{3B4B19DA-32AB-24F6-4BA4-3D20B66AE700}"/>
              </a:ext>
            </a:extLst>
          </p:cNvPr>
          <p:cNvSpPr txBox="1">
            <a:spLocks/>
          </p:cNvSpPr>
          <p:nvPr/>
        </p:nvSpPr>
        <p:spPr>
          <a:xfrm>
            <a:off x="838200" y="276621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Limitations</a:t>
            </a:r>
          </a:p>
        </p:txBody>
      </p:sp>
      <p:sp>
        <p:nvSpPr>
          <p:cNvPr id="5" name="Content Placeholder 2">
            <a:extLst>
              <a:ext uri="{FF2B5EF4-FFF2-40B4-BE49-F238E27FC236}">
                <a16:creationId xmlns:a16="http://schemas.microsoft.com/office/drawing/2014/main" id="{1270011E-E3ED-56DF-5AD1-93D22F600FF4}"/>
              </a:ext>
            </a:extLst>
          </p:cNvPr>
          <p:cNvSpPr txBox="1">
            <a:spLocks/>
          </p:cNvSpPr>
          <p:nvPr/>
        </p:nvSpPr>
        <p:spPr>
          <a:xfrm>
            <a:off x="838200" y="3964209"/>
            <a:ext cx="10515600" cy="252866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Not enough features with predictive patterns to capture a strong signal. </a:t>
            </a:r>
          </a:p>
          <a:p>
            <a:r>
              <a:rPr lang="en-US" dirty="0"/>
              <a:t>Addressing drift in severity. Need additional evidence to strength what is threshold.</a:t>
            </a:r>
          </a:p>
          <a:p>
            <a:r>
              <a:rPr lang="en-US" dirty="0"/>
              <a:t>Risk score is expressed in standard formatting. Hard to interpret.</a:t>
            </a:r>
          </a:p>
          <a:p>
            <a:endParaRPr lang="en-US" dirty="0"/>
          </a:p>
        </p:txBody>
      </p:sp>
    </p:spTree>
    <p:extLst>
      <p:ext uri="{BB962C8B-B14F-4D97-AF65-F5344CB8AC3E}">
        <p14:creationId xmlns:p14="http://schemas.microsoft.com/office/powerpoint/2010/main" val="2780616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2BEEC-ED6E-102B-72E3-1166C9E4D3BF}"/>
              </a:ext>
            </a:extLst>
          </p:cNvPr>
          <p:cNvSpPr>
            <a:spLocks noGrp="1"/>
          </p:cNvSpPr>
          <p:nvPr>
            <p:ph type="title"/>
          </p:nvPr>
        </p:nvSpPr>
        <p:spPr/>
        <p:txBody>
          <a:bodyPr/>
          <a:lstStyle/>
          <a:p>
            <a:r>
              <a:rPr lang="en-US" b="1" dirty="0"/>
              <a:t>Test Set Results</a:t>
            </a:r>
          </a:p>
        </p:txBody>
      </p:sp>
      <p:pic>
        <p:nvPicPr>
          <p:cNvPr id="5" name="Picture 4" descr="The image depicts a scatter plot comparing actual values against predicted values, with a range from -1.5 to 2.5.&#10;&#10;AI-generated content may be incorrect.">
            <a:extLst>
              <a:ext uri="{FF2B5EF4-FFF2-40B4-BE49-F238E27FC236}">
                <a16:creationId xmlns:a16="http://schemas.microsoft.com/office/drawing/2014/main" id="{13D197AC-5151-50C6-0538-FD620A2FCD63}"/>
              </a:ext>
            </a:extLst>
          </p:cNvPr>
          <p:cNvPicPr>
            <a:picLocks noChangeAspect="1"/>
          </p:cNvPicPr>
          <p:nvPr/>
        </p:nvPicPr>
        <p:blipFill>
          <a:blip r:embed="rId2"/>
          <a:stretch>
            <a:fillRect/>
          </a:stretch>
        </p:blipFill>
        <p:spPr>
          <a:xfrm>
            <a:off x="325823" y="1572314"/>
            <a:ext cx="6174138" cy="4539424"/>
          </a:xfrm>
          <a:prstGeom prst="rect">
            <a:avLst/>
          </a:prstGeom>
        </p:spPr>
      </p:pic>
      <p:pic>
        <p:nvPicPr>
          <p:cNvPr id="7" name="Picture 6" descr="The image is a bar chart or segmented diagram showing two sets of numerical values, with the top segment representing true labels (9000, 9669, 3531, 7701, 7748) and the bottom segment representing predicted labels (0-8000, 6000, 0, 5000, 4000), indicating a comparison or evaluation of prediction accuracy.&#10;&#10;AI-generated content may be incorrect.">
            <a:extLst>
              <a:ext uri="{FF2B5EF4-FFF2-40B4-BE49-F238E27FC236}">
                <a16:creationId xmlns:a16="http://schemas.microsoft.com/office/drawing/2014/main" id="{BC4D6B51-351E-5ABD-797E-24A721FB792E}"/>
              </a:ext>
            </a:extLst>
          </p:cNvPr>
          <p:cNvPicPr>
            <a:picLocks noChangeAspect="1"/>
          </p:cNvPicPr>
          <p:nvPr/>
        </p:nvPicPr>
        <p:blipFill>
          <a:blip r:embed="rId3"/>
          <a:stretch>
            <a:fillRect/>
          </a:stretch>
        </p:blipFill>
        <p:spPr>
          <a:xfrm>
            <a:off x="6499961" y="1687143"/>
            <a:ext cx="5278133" cy="4424595"/>
          </a:xfrm>
          <a:prstGeom prst="rect">
            <a:avLst/>
          </a:prstGeom>
        </p:spPr>
      </p:pic>
    </p:spTree>
    <p:extLst>
      <p:ext uri="{BB962C8B-B14F-4D97-AF65-F5344CB8AC3E}">
        <p14:creationId xmlns:p14="http://schemas.microsoft.com/office/powerpoint/2010/main" val="28977026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CA90D-6247-9D86-8B15-2C6F27468E63}"/>
              </a:ext>
            </a:extLst>
          </p:cNvPr>
          <p:cNvSpPr>
            <a:spLocks noGrp="1"/>
          </p:cNvSpPr>
          <p:nvPr>
            <p:ph type="title"/>
          </p:nvPr>
        </p:nvSpPr>
        <p:spPr/>
        <p:txBody>
          <a:bodyPr/>
          <a:lstStyle/>
          <a:p>
            <a:r>
              <a:rPr lang="en-US" b="1" dirty="0"/>
              <a:t>Conclusion</a:t>
            </a:r>
          </a:p>
        </p:txBody>
      </p:sp>
      <p:sp>
        <p:nvSpPr>
          <p:cNvPr id="3" name="Content Placeholder 2">
            <a:extLst>
              <a:ext uri="{FF2B5EF4-FFF2-40B4-BE49-F238E27FC236}">
                <a16:creationId xmlns:a16="http://schemas.microsoft.com/office/drawing/2014/main" id="{C624556E-D8D2-9EF6-E28E-5F09C1B891D5}"/>
              </a:ext>
            </a:extLst>
          </p:cNvPr>
          <p:cNvSpPr>
            <a:spLocks noGrp="1"/>
          </p:cNvSpPr>
          <p:nvPr>
            <p:ph idx="1"/>
          </p:nvPr>
        </p:nvSpPr>
        <p:spPr/>
        <p:txBody>
          <a:bodyPr/>
          <a:lstStyle/>
          <a:p>
            <a:r>
              <a:rPr lang="en-US" dirty="0"/>
              <a:t>Pre-incident conditions carry real, statistical signal about accident risk and severity.</a:t>
            </a:r>
          </a:p>
          <a:p>
            <a:r>
              <a:rPr lang="en-US" dirty="0"/>
              <a:t>Two-stage pipeline outperformed naïve baseline models with confirmed significance. </a:t>
            </a:r>
          </a:p>
          <a:p>
            <a:r>
              <a:rPr lang="en-US" dirty="0"/>
              <a:t>Tackle severity drift and class imbalance before any real deployment conversations.</a:t>
            </a:r>
          </a:p>
        </p:txBody>
      </p:sp>
    </p:spTree>
    <p:extLst>
      <p:ext uri="{BB962C8B-B14F-4D97-AF65-F5344CB8AC3E}">
        <p14:creationId xmlns:p14="http://schemas.microsoft.com/office/powerpoint/2010/main" val="2820669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4BF99F04-1F4F-75C6-D899-E970BFBC2C0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closeup of railroad train track in black and white">
            <a:extLst>
              <a:ext uri="{FF2B5EF4-FFF2-40B4-BE49-F238E27FC236}">
                <a16:creationId xmlns:a16="http://schemas.microsoft.com/office/drawing/2014/main" id="{3B7E6AEE-2243-5873-C1F2-18768E0A1CA0}"/>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b="15730"/>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C722EB41-454F-4E60-7CFE-3A0A9DAA2F5D}"/>
              </a:ext>
            </a:extLst>
          </p:cNvPr>
          <p:cNvSpPr>
            <a:spLocks noGrp="1"/>
          </p:cNvSpPr>
          <p:nvPr>
            <p:ph type="ctrTitle"/>
          </p:nvPr>
        </p:nvSpPr>
        <p:spPr>
          <a:xfrm>
            <a:off x="1524000" y="1122362"/>
            <a:ext cx="9144000" cy="2900518"/>
          </a:xfrm>
        </p:spPr>
        <p:txBody>
          <a:bodyPr>
            <a:normAutofit/>
          </a:bodyPr>
          <a:lstStyle/>
          <a:p>
            <a:r>
              <a:rPr lang="en-US" b="1">
                <a:solidFill>
                  <a:srgbClr val="FFFFFF"/>
                </a:solidFill>
              </a:rPr>
              <a:t>Thank You!</a:t>
            </a:r>
          </a:p>
        </p:txBody>
      </p:sp>
    </p:spTree>
    <p:extLst>
      <p:ext uri="{BB962C8B-B14F-4D97-AF65-F5344CB8AC3E}">
        <p14:creationId xmlns:p14="http://schemas.microsoft.com/office/powerpoint/2010/main" val="138503078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223</TotalTime>
  <Words>686</Words>
  <Application>Microsoft Office PowerPoint</Application>
  <PresentationFormat>Widescreen</PresentationFormat>
  <Paragraphs>131</Paragraphs>
  <Slides>36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Batang</vt:lpstr>
      <vt:lpstr>Aptos</vt:lpstr>
      <vt:lpstr>Aptos Display</vt:lpstr>
      <vt:lpstr>Arial</vt:lpstr>
      <vt:lpstr>Gadugi</vt:lpstr>
      <vt:lpstr>Office Theme</vt:lpstr>
      <vt:lpstr>Railroad Accident/Incident Risk Report</vt:lpstr>
      <vt:lpstr>Agenda</vt:lpstr>
      <vt:lpstr>Capstone/ Data Setup</vt:lpstr>
      <vt:lpstr>Problem Setup</vt:lpstr>
      <vt:lpstr>Dataset Source</vt:lpstr>
      <vt:lpstr>PowerPoint Presentation</vt:lpstr>
      <vt:lpstr>Preprocessing/ Feature Engineering</vt:lpstr>
      <vt:lpstr>Data Preprocessing</vt:lpstr>
      <vt:lpstr>Feature Engineering</vt:lpstr>
      <vt:lpstr>Feature Engineering – Threshold Value</vt:lpstr>
      <vt:lpstr>Feature Engineering – Yeo Johnson</vt:lpstr>
      <vt:lpstr>Feature Engineering – Risk Category</vt:lpstr>
      <vt:lpstr>EDA</vt:lpstr>
      <vt:lpstr>EDA – Reports Over Year</vt:lpstr>
      <vt:lpstr>EDA – Risk Category Split</vt:lpstr>
      <vt:lpstr>EDA – Correlation/ Cardinality/ Connection</vt:lpstr>
      <vt:lpstr>EDA – Correlation/ Cardinality/ Connection</vt:lpstr>
      <vt:lpstr>Data Preparation</vt:lpstr>
      <vt:lpstr>Methodology</vt:lpstr>
      <vt:lpstr>Model Explored</vt:lpstr>
      <vt:lpstr>Model Results</vt:lpstr>
      <vt:lpstr>XGBoost Regressor and Classifier</vt:lpstr>
      <vt:lpstr>Model Learning Rate</vt:lpstr>
      <vt:lpstr>Model Performance</vt:lpstr>
      <vt:lpstr>Model Feature Importance</vt:lpstr>
      <vt:lpstr>Evaluation</vt:lpstr>
      <vt:lpstr>Naïve Models</vt:lpstr>
      <vt:lpstr>PowerPoint Presentation</vt:lpstr>
      <vt:lpstr>Regression Evaluation</vt:lpstr>
      <vt:lpstr>Classification Evaluation</vt:lpstr>
      <vt:lpstr>Conclusion</vt:lpstr>
      <vt:lpstr>Interpretation</vt:lpstr>
      <vt:lpstr>Biases</vt:lpstr>
      <vt:lpstr>Test Set Results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Tanner Hilt</dc:creator>
  <cp:lastModifiedBy>Tanner Hilt</cp:lastModifiedBy>
  <cp:revision>2</cp:revision>
  <dcterms:created xsi:type="dcterms:W3CDTF">2026-08-04T00:16:40Z</dcterms:created>
  <dcterms:modified xsi:type="dcterms:W3CDTF">2026-08-06T12:45:31Z</dcterms:modified>
</cp:coreProperties>
</file>